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313" r:id="rId3"/>
    <p:sldId id="2050" r:id="rId4"/>
    <p:sldId id="2055" r:id="rId5"/>
    <p:sldId id="2052" r:id="rId6"/>
    <p:sldId id="2053" r:id="rId7"/>
    <p:sldId id="2054" r:id="rId8"/>
    <p:sldId id="2051" r:id="rId9"/>
    <p:sldId id="291" r:id="rId10"/>
  </p:sldIdLst>
  <p:sldSz cx="12192000" cy="6858000"/>
  <p:notesSz cx="6858000" cy="9144000"/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4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E50"/>
    <a:srgbClr val="008223"/>
    <a:srgbClr val="0087DC"/>
    <a:srgbClr val="64D7D7"/>
    <a:srgbClr val="66C4EB"/>
    <a:srgbClr val="FFAA00"/>
    <a:srgbClr val="FFC72C"/>
    <a:srgbClr val="FFFFFF"/>
    <a:srgbClr val="F5F9FC"/>
    <a:srgbClr val="FFE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81" autoAdjust="0"/>
    <p:restoredTop sz="96242" autoAdjust="0"/>
  </p:normalViewPr>
  <p:slideViewPr>
    <p:cSldViewPr snapToGrid="0">
      <p:cViewPr varScale="1">
        <p:scale>
          <a:sx n="68" d="100"/>
          <a:sy n="68" d="100"/>
        </p:scale>
        <p:origin x="324" y="48"/>
      </p:cViewPr>
      <p:guideLst>
        <p:guide orient="horz" pos="1003"/>
        <p:guide pos="41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F9F17-A2DB-4454-9C77-7AB5FB0B9450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512C4-F434-4B27-8AFC-6148BB36BC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6179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1128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2320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2181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2814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5222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9759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9929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15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9BD8EC-F37F-4F94-8712-797CC1161E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29"/>
            <a:ext cx="9144000" cy="137010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+mj-lt"/>
                <a:ea typeface="+mj-ea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altLang="zh-TW" sz="3000" dirty="0"/>
              <a:t>Presentation Subtitle Goes Here</a:t>
            </a:r>
            <a:br>
              <a:rPr lang="en-US" altLang="zh-TW" sz="3000" dirty="0"/>
            </a:br>
            <a:r>
              <a:rPr lang="en-US" altLang="zh-TW" sz="3000" dirty="0"/>
              <a:t>Maximum 2 Lines (24-32pt)</a:t>
            </a:r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38A83012-CC3B-47DF-9FCA-A1115F39D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8612" y="5739683"/>
            <a:ext cx="5707316" cy="2183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9" name="文字版面配置區 4">
            <a:extLst>
              <a:ext uri="{FF2B5EF4-FFF2-40B4-BE49-F238E27FC236}">
                <a16:creationId xmlns:a16="http://schemas.microsoft.com/office/drawing/2014/main" id="{C5F15596-5511-4524-8143-5414A6D0A4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Cover </a:t>
            </a:r>
            <a:r>
              <a:rPr lang="en-US" altLang="zh-TW" dirty="0" err="1"/>
              <a:t>Page_White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509515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_Image">
    <p:bg>
      <p:bgPr>
        <a:blipFill dpi="0" rotWithShape="1">
          <a:blip r:embed="rId2">
            <a:alphaModFix amt="9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32A9990-6214-495A-B5B6-C1801359D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79379" cy="6850900"/>
          </a:xfrm>
          <a:prstGeom prst="rect">
            <a:avLst/>
          </a:prstGeom>
        </p:spPr>
      </p:pic>
      <p:sp>
        <p:nvSpPr>
          <p:cNvPr id="7" name="日期版面配置區 3">
            <a:extLst>
              <a:ext uri="{FF2B5EF4-FFF2-40B4-BE49-F238E27FC236}">
                <a16:creationId xmlns:a16="http://schemas.microsoft.com/office/drawing/2014/main" id="{CE458713-38E5-4D94-9527-7C2BC1D5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8912" y="5705762"/>
            <a:ext cx="2010917" cy="31965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D14A8E49-FD94-442B-BE75-F805677409ED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135E4C83-C41A-49B9-9C41-417375F79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897" y="5333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u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37872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11" name="文字版面配置區 4">
            <a:extLst>
              <a:ext uri="{FF2B5EF4-FFF2-40B4-BE49-F238E27FC236}">
                <a16:creationId xmlns:a16="http://schemas.microsoft.com/office/drawing/2014/main" id="{35B9A589-C73E-46B0-B30E-8BBC42A4E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Cover </a:t>
            </a:r>
            <a:r>
              <a:rPr lang="en-US" altLang="zh-TW" dirty="0" err="1"/>
              <a:t>Page_Image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3744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B44CAB8-9DEC-4DEF-99E0-D78F53E4F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21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 dirty="0"/>
              <a:t>Break Page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814F8012-3519-4A75-B26B-57773CA554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32"/>
            <a:ext cx="9144000" cy="1353169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altLang="zh-TW" dirty="0"/>
              <a:t>Break Page Subtitle Goes Here</a:t>
            </a:r>
            <a:br>
              <a:rPr lang="en-US" altLang="zh-TW" dirty="0"/>
            </a:br>
            <a:r>
              <a:rPr lang="en-US" altLang="zh-TW" dirty="0"/>
              <a:t>Maximum 2 Lines (24-32pt)</a:t>
            </a:r>
          </a:p>
        </p:txBody>
      </p:sp>
    </p:spTree>
    <p:extLst>
      <p:ext uri="{BB962C8B-B14F-4D97-AF65-F5344CB8AC3E}">
        <p14:creationId xmlns:p14="http://schemas.microsoft.com/office/powerpoint/2010/main" val="151737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440" y="6225871"/>
            <a:ext cx="1368000" cy="620345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22CCF-5B81-47DC-861A-B0A56BD7A1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400" y="1445342"/>
            <a:ext cx="11379200" cy="4678897"/>
          </a:xfrm>
        </p:spPr>
        <p:txBody>
          <a:bodyPr>
            <a:normAutofit/>
          </a:bodyPr>
          <a:lstStyle>
            <a:lvl1pPr marL="354013" indent="-354013">
              <a:lnSpc>
                <a:spcPct val="110000"/>
              </a:lnSpc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</a:defRPr>
            </a:lvl1pPr>
            <a:lvl2pPr marL="806450" indent="-349250">
              <a:buFont typeface="Wingdings" panose="05000000000000000000" pitchFamily="2" charset="2"/>
              <a:buChar char="Ø"/>
              <a:defRPr/>
            </a:lvl2pPr>
            <a:lvl3pPr marL="1258888" indent="-344488">
              <a:buFont typeface="Wingdings" panose="05000000000000000000" pitchFamily="2" charset="2"/>
              <a:buChar char="l"/>
              <a:defRPr/>
            </a:lvl3pPr>
          </a:lstStyle>
          <a:p>
            <a:pPr lvl="0"/>
            <a:r>
              <a:rPr lang="en-US" altLang="zh-TW" dirty="0"/>
              <a:t>Content goes here (20pt)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/>
        </p:nvSpPr>
        <p:spPr>
          <a:xfrm>
            <a:off x="482266" y="6528265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Delta Confidential</a:t>
            </a: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C6679C81-FA7B-49D6-82F0-C4527FE45A1A}"/>
              </a:ext>
            </a:extLst>
          </p:cNvPr>
          <p:cNvGrpSpPr/>
          <p:nvPr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C83B355D-DD8E-4886-8A9F-6BD99BFA8CC1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D816D3C-CE63-43F8-AC10-9DFB5870EB4D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9A01EFE-0697-4F67-B705-BD578BDC33D9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01EB92-F246-4444-B0E1-6E87E28C044D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3191886-C7FD-40A9-9609-57D23380C62A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28AB9346-3609-4A19-8654-F1F89BAE3612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35B6686-F122-4A22-94BF-260EA4280B4D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C5EDC45A-2526-46FB-81F7-22EE4872B6AF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AFCD5573-BB02-4224-8085-E3255856A371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F5AD25B-A76B-4782-93A6-A6CFC1F793DB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31B0147-73D4-4A0E-AB60-BDE5D65A0FDA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0304356-DABA-4FB6-ACD2-3D555DA768DA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2A159378-35B9-4C04-9A3C-0680A883C20B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6606867-067F-4294-8D14-6300FB59E7A6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C0B9F68F-02FA-4B05-BD0F-46245FAE32A1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1D1B3FF-2264-4799-880B-9AC63365E06E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06478"/>
            <a:ext cx="11379200" cy="894736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774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AEA3F42-8ED3-4628-89CC-CE9DC5D371F1}"/>
              </a:ext>
            </a:extLst>
          </p:cNvPr>
          <p:cNvGrpSpPr/>
          <p:nvPr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DCAFD82-B8CA-4738-843C-0FC6D7C6C5F5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C299B04-932C-4519-8E76-017FBD3A569A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B20FB35-F562-4362-B563-165B2407465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DE5232E-7B0E-4AEF-9D43-2E173D30F319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9D8FD8BE-B575-4450-95FD-B132F2FBF30C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FA6D470B-49E6-460D-A2F7-3AA3A3B20021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184DC0D2-E428-4F38-B04F-7DC781667A34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81D0C29-FC7B-4F3F-BD32-E40206A62370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032A71D-5325-4D28-B4B1-6B6BF4AAB30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738A70FA-150B-4708-B634-5950D1A00DF9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D3854FDB-0E9B-46EB-A142-15E78B7E2E6D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FD94B95-A8E7-4E9F-A041-9A4885EECF37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F6E9780-35D6-4AF2-80BB-A3569C8BA2E3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A11A937-B5ED-40BD-9B95-73D6C01FBDBD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1465539-F4BD-48C9-8CC9-44AE7B97586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85BCC709-E469-4948-B4D5-AF8897457737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/>
        </p:nvSpPr>
        <p:spPr>
          <a:xfrm>
            <a:off x="482266" y="6528265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Delta Confidential</a:t>
            </a: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440" y="6225871"/>
            <a:ext cx="1368000" cy="62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7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 Pag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5F44435C-4EDB-4AB4-AAD6-08BF8682BA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099372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 dirty="0"/>
              <a:t>Smarter. Greener. Together. </a:t>
            </a:r>
            <a:br>
              <a:rPr lang="en-US" dirty="0"/>
            </a:br>
            <a:endParaRPr lang="en-US" dirty="0"/>
          </a:p>
        </p:txBody>
      </p:sp>
      <p:sp>
        <p:nvSpPr>
          <p:cNvPr id="6" name="文字版面配置區 4">
            <a:extLst>
              <a:ext uri="{FF2B5EF4-FFF2-40B4-BE49-F238E27FC236}">
                <a16:creationId xmlns:a16="http://schemas.microsoft.com/office/drawing/2014/main" id="{38C78CAC-0A95-4D70-9EAA-CE96A16F9E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370" y="60183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Ending </a:t>
            </a:r>
            <a:r>
              <a:rPr lang="en-US" altLang="zh-TW" dirty="0" err="1"/>
              <a:t>Page_White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8356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 Pag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3B392DE6-2AF2-4E28-AF03-1A4F3D15BEAE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3" name="矩形 52"/>
          <p:cNvSpPr/>
          <p:nvPr/>
        </p:nvSpPr>
        <p:spPr>
          <a:xfrm>
            <a:off x="0" y="-1"/>
            <a:ext cx="12192000" cy="4831883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TW" altLang="en-US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ABE8868F-CA4D-431A-BCA3-79708C4A93CC}"/>
              </a:ext>
            </a:extLst>
          </p:cNvPr>
          <p:cNvGrpSpPr/>
          <p:nvPr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E5238164-92D2-4070-B189-8D969D4D4C1C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D4CBB22-8F55-4813-A361-6B31616CEFC5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9AE6129C-E538-40C6-95CE-8D689DA806C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B42DF3C8-6F17-4F9B-8224-82E6BF529D75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CA03870D-CA4E-4A68-B643-C828AB156380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204627FC-9E22-4DF5-9620-E588D5B1D754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9FFB4E0B-7913-4DBA-B9BC-22815DD1E9F5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E6EA7B8-B405-4A2B-8F6C-66644CA26469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531D023A-8171-4D62-AD85-A3E51BEECBC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B8F6B22F-DD93-4EC4-8E97-7E5A61686F3E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28833C97-6D6E-40FC-976A-CF4C2B0848D9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ED3716C8-CA0D-4806-A013-3F0E791C886C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EB57F906-7144-4062-914D-703110CC17BF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09D68DFB-0813-4C3A-8CE7-03C842C11ED7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AE8DE291-898F-4470-A37E-2D3C217EDD2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7A1C886-D4A7-40F8-BEDF-DE906366403B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2" name="標題 1">
            <a:extLst>
              <a:ext uri="{FF2B5EF4-FFF2-40B4-BE49-F238E27FC236}">
                <a16:creationId xmlns:a16="http://schemas.microsoft.com/office/drawing/2014/main" id="{9FF8E5F9-3E27-4FB9-9E7F-AA69CBB722EF}"/>
              </a:ext>
            </a:extLst>
          </p:cNvPr>
          <p:cNvSpPr txBox="1">
            <a:spLocks/>
          </p:cNvSpPr>
          <p:nvPr/>
        </p:nvSpPr>
        <p:spPr>
          <a:xfrm>
            <a:off x="376089" y="5152426"/>
            <a:ext cx="9144000" cy="1212111"/>
          </a:xfrm>
          <a:prstGeom prst="rect">
            <a:avLst/>
          </a:prstGeom>
        </p:spPr>
        <p:txBody>
          <a:bodyPr/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4400" b="0" dirty="0">
                <a:solidFill>
                  <a:schemeClr val="tx1"/>
                </a:solidFill>
                <a:latin typeface="+mn-lt"/>
              </a:rPr>
              <a:t>Smarter. Greener. Together. </a:t>
            </a:r>
            <a:br>
              <a:rPr lang="en-US" altLang="zh-TW" sz="4400" b="0" dirty="0">
                <a:solidFill>
                  <a:schemeClr val="tx1"/>
                </a:solidFill>
                <a:latin typeface="+mn-lt"/>
              </a:rPr>
            </a:br>
            <a:endParaRPr lang="en-US" sz="44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101" y="5475968"/>
            <a:ext cx="2814118" cy="1276115"/>
          </a:xfrm>
          <a:prstGeom prst="rect">
            <a:avLst/>
          </a:prstGeom>
        </p:spPr>
      </p:pic>
      <p:sp>
        <p:nvSpPr>
          <p:cNvPr id="55" name="圖片版面配置區 6">
            <a:extLst>
              <a:ext uri="{FF2B5EF4-FFF2-40B4-BE49-F238E27FC236}">
                <a16:creationId xmlns:a16="http://schemas.microsoft.com/office/drawing/2014/main" id="{BEC39B5C-7A19-45E5-87B6-A4D4ACE9133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588" y="-12701"/>
            <a:ext cx="12192001" cy="471393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 altLang="zh-TW" dirty="0"/>
              <a:t>     Ending </a:t>
            </a:r>
            <a:r>
              <a:rPr lang="en-US" altLang="zh-TW" dirty="0" err="1"/>
              <a:t>Page_Image</a:t>
            </a:r>
            <a:r>
              <a:rPr lang="en-US" altLang="zh-TW" dirty="0"/>
              <a:t>: </a:t>
            </a:r>
            <a:br>
              <a:rPr lang="en-US" altLang="zh-TW" dirty="0"/>
            </a:br>
            <a:r>
              <a:rPr lang="en-US" altLang="zh-TW" dirty="0"/>
              <a:t>      A corporate-level, sector-level or product-level brand communication imagery can be applied in this gray area.</a:t>
            </a:r>
          </a:p>
          <a:p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-1200" y="4701237"/>
            <a:ext cx="12193200" cy="144000"/>
            <a:chOff x="22799" y="4912990"/>
            <a:chExt cx="12193200" cy="144000"/>
          </a:xfrm>
        </p:grpSpPr>
        <p:sp>
          <p:nvSpPr>
            <p:cNvPr id="2" name="矩形 1"/>
            <p:cNvSpPr/>
            <p:nvPr userDrawn="1"/>
          </p:nvSpPr>
          <p:spPr>
            <a:xfrm>
              <a:off x="22799" y="4912990"/>
              <a:ext cx="12193200" cy="14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矩形 3"/>
            <p:cNvSpPr/>
            <p:nvPr userDrawn="1"/>
          </p:nvSpPr>
          <p:spPr>
            <a:xfrm>
              <a:off x="9767999" y="4912990"/>
              <a:ext cx="2448000" cy="144000"/>
            </a:xfrm>
            <a:prstGeom prst="rect">
              <a:avLst/>
            </a:prstGeom>
            <a:solidFill>
              <a:srgbClr val="B9EB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/>
            <p:cNvSpPr/>
            <p:nvPr userDrawn="1"/>
          </p:nvSpPr>
          <p:spPr>
            <a:xfrm>
              <a:off x="7323672" y="4912990"/>
              <a:ext cx="2448000" cy="144000"/>
            </a:xfrm>
            <a:prstGeom prst="rect">
              <a:avLst/>
            </a:prstGeom>
            <a:solidFill>
              <a:srgbClr val="64D7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728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D7629-E9F0-463C-8830-7D6C7CA68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75F1FD7-D23F-43C3-B342-8AB84BE21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083BCB-1A44-4E0E-8DAD-AE231A69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A8E49-FD94-442B-BE75-F805677409ED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DBC5E3-6951-4877-A350-584DD3E1C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598B07-C651-4047-B8BD-91075C2E2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05D5B-9385-4804-9C1A-84555C64C7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160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84B288-D41F-4145-A1C0-E0281E1E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40356"/>
            <a:ext cx="11379200" cy="67939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altLang="zh-TW" dirty="0"/>
              <a:t>Page Title Goes Here (32pt)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BE7FFB-6DD4-4C49-91B1-9DC75DF6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170462"/>
            <a:ext cx="11379200" cy="466963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altLang="zh-TW" dirty="0"/>
              <a:t>Content goes here (24pt)</a:t>
            </a:r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BD7ECA-A67F-4BFF-9619-0DDD6E5A9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176267"/>
            <a:ext cx="2743200" cy="422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D14A8E49-FD94-442B-BE75-F805677409ED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9C03B7-7699-4072-AC6D-A339A44A7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611" y="6191967"/>
            <a:ext cx="4114800" cy="437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u="none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C81264-E3A8-4919-AA46-612C30BB1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2" y="6191968"/>
            <a:ext cx="401121" cy="422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3605D5B-9385-4804-9C1A-84555C64C7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213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1C763-DF1B-4AE5-B0B3-8BB9B7170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13" y="916892"/>
            <a:ext cx="11000727" cy="1902508"/>
          </a:xfrm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PHM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551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3FC80-345A-EB13-843E-2D116905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06478"/>
            <a:ext cx="3295267" cy="894736"/>
          </a:xfrm>
        </p:spPr>
        <p:txBody>
          <a:bodyPr/>
          <a:lstStyle/>
          <a:p>
            <a:r>
              <a:rPr lang="zh-CN" altLang="en-US" dirty="0"/>
              <a:t>測試系統的</a:t>
            </a:r>
            <a:r>
              <a:rPr lang="en-US" altLang="zh-CN" dirty="0"/>
              <a:t>PHM</a:t>
            </a:r>
            <a:endParaRPr lang="zh-TW" altLang="en-US" dirty="0"/>
          </a:p>
        </p:txBody>
      </p:sp>
      <p:cxnSp>
        <p:nvCxnSpPr>
          <p:cNvPr id="10" name="直接连接符 3">
            <a:extLst>
              <a:ext uri="{FF2B5EF4-FFF2-40B4-BE49-F238E27FC236}">
                <a16:creationId xmlns:a16="http://schemas.microsoft.com/office/drawing/2014/main" id="{4AF98939-7BA2-BB74-58D7-F982C797D1C3}"/>
              </a:ext>
            </a:extLst>
          </p:cNvPr>
          <p:cNvCxnSpPr/>
          <p:nvPr/>
        </p:nvCxnSpPr>
        <p:spPr>
          <a:xfrm>
            <a:off x="3868805" y="816599"/>
            <a:ext cx="81671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標題 1">
            <a:extLst>
              <a:ext uri="{FF2B5EF4-FFF2-40B4-BE49-F238E27FC236}">
                <a16:creationId xmlns:a16="http://schemas.microsoft.com/office/drawing/2014/main" id="{0E4350FE-FD86-3797-6AE2-62E8A0EAEDA2}"/>
              </a:ext>
            </a:extLst>
          </p:cNvPr>
          <p:cNvSpPr txBox="1">
            <a:spLocks/>
          </p:cNvSpPr>
          <p:nvPr/>
        </p:nvSpPr>
        <p:spPr bwMode="auto">
          <a:xfrm>
            <a:off x="3868805" y="458816"/>
            <a:ext cx="816719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方案提出</a:t>
            </a:r>
            <a:r>
              <a:rPr lang="en-US" altLang="zh-CN" sz="2000" b="0" dirty="0">
                <a:solidFill>
                  <a:schemeClr val="tx2"/>
                </a:solidFill>
              </a:rPr>
              <a:t>&amp;</a:t>
            </a:r>
            <a:r>
              <a:rPr lang="zh-CN" altLang="en-US" sz="2000" b="0" dirty="0">
                <a:solidFill>
                  <a:schemeClr val="tx2"/>
                </a:solidFill>
              </a:rPr>
              <a:t>對比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p:sp>
        <p:nvSpPr>
          <p:cNvPr id="69" name="AutoShape 6">
            <a:extLst>
              <a:ext uri="{FF2B5EF4-FFF2-40B4-BE49-F238E27FC236}">
                <a16:creationId xmlns:a16="http://schemas.microsoft.com/office/drawing/2014/main" id="{E9C0B908-F13F-DA5D-5BE5-8578843059ED}"/>
              </a:ext>
            </a:extLst>
          </p:cNvPr>
          <p:cNvSpPr/>
          <p:nvPr/>
        </p:nvSpPr>
        <p:spPr>
          <a:xfrm>
            <a:off x="1016000" y="1561717"/>
            <a:ext cx="3175000" cy="397095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 dirty="0"/>
          </a:p>
        </p:txBody>
      </p:sp>
      <p:sp>
        <p:nvSpPr>
          <p:cNvPr id="70" name="AutoShape 7">
            <a:extLst>
              <a:ext uri="{FF2B5EF4-FFF2-40B4-BE49-F238E27FC236}">
                <a16:creationId xmlns:a16="http://schemas.microsoft.com/office/drawing/2014/main" id="{6D7989D9-5D92-E0C2-FF5D-7D57B1D52814}"/>
              </a:ext>
            </a:extLst>
          </p:cNvPr>
          <p:cNvSpPr txBox="1"/>
          <p:nvPr/>
        </p:nvSpPr>
        <p:spPr>
          <a:xfrm>
            <a:off x="1270000" y="1790317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測試工具</a:t>
            </a:r>
            <a:r>
              <a:rPr lang="en-US" altLang="zh-CN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治具的</a:t>
            </a:r>
            <a:r>
              <a:rPr lang="en-US" altLang="zh-CN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PHM</a:t>
            </a:r>
            <a:endParaRPr lang="en-US" sz="1100" dirty="0"/>
          </a:p>
        </p:txBody>
      </p:sp>
      <p:sp>
        <p:nvSpPr>
          <p:cNvPr id="71" name="AutoShape 8">
            <a:extLst>
              <a:ext uri="{FF2B5EF4-FFF2-40B4-BE49-F238E27FC236}">
                <a16:creationId xmlns:a16="http://schemas.microsoft.com/office/drawing/2014/main" id="{60424E06-008C-92A6-FECA-B298C6CC833F}"/>
              </a:ext>
            </a:extLst>
          </p:cNvPr>
          <p:cNvSpPr txBox="1"/>
          <p:nvPr/>
        </p:nvSpPr>
        <p:spPr>
          <a:xfrm>
            <a:off x="1270000" y="2145917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 b="0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聚焦高頻失效點</a:t>
            </a:r>
            <a:endParaRPr lang="en-US" sz="1100" dirty="0"/>
          </a:p>
        </p:txBody>
      </p:sp>
      <p:cxnSp>
        <p:nvCxnSpPr>
          <p:cNvPr id="72" name="Connector 9">
            <a:extLst>
              <a:ext uri="{FF2B5EF4-FFF2-40B4-BE49-F238E27FC236}">
                <a16:creationId xmlns:a16="http://schemas.microsoft.com/office/drawing/2014/main" id="{162B8123-5F3E-F114-F8DD-B644BE06E1A5}"/>
              </a:ext>
            </a:extLst>
          </p:cNvPr>
          <p:cNvCxnSpPr/>
          <p:nvPr/>
        </p:nvCxnSpPr>
        <p:spPr>
          <a:xfrm rot="-16370">
            <a:off x="1270015" y="2520567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" name="AutoShape 10">
            <a:extLst>
              <a:ext uri="{FF2B5EF4-FFF2-40B4-BE49-F238E27FC236}">
                <a16:creationId xmlns:a16="http://schemas.microsoft.com/office/drawing/2014/main" id="{8B91B237-CB56-05B3-8C78-329D518AF245}"/>
              </a:ext>
            </a:extLst>
          </p:cNvPr>
          <p:cNvSpPr txBox="1"/>
          <p:nvPr/>
        </p:nvSpPr>
        <p:spPr>
          <a:xfrm>
            <a:off x="1178207" y="3274099"/>
            <a:ext cx="2826987" cy="1007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回路接觸電阻</a:t>
            </a:r>
            <a:r>
              <a:rPr 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記錄電阻漂移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繼電器吸合壓降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吸合響應時間、吸合次數</a:t>
            </a:r>
            <a:endParaRPr lang="en-US" altLang="zh-CN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連接器插拔次數、溫升</a:t>
            </a:r>
            <a:endParaRPr lang="en-US" altLang="zh-CN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探針形變等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4" name="AutoShape 11">
            <a:extLst>
              <a:ext uri="{FF2B5EF4-FFF2-40B4-BE49-F238E27FC236}">
                <a16:creationId xmlns:a16="http://schemas.microsoft.com/office/drawing/2014/main" id="{6DADC086-B9A3-77F3-5E35-0A4DC4C2344C}"/>
              </a:ext>
            </a:extLst>
          </p:cNvPr>
          <p:cNvSpPr/>
          <p:nvPr/>
        </p:nvSpPr>
        <p:spPr>
          <a:xfrm>
            <a:off x="4508500" y="1561716"/>
            <a:ext cx="3175000" cy="397094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75" name="AutoShape 12">
            <a:extLst>
              <a:ext uri="{FF2B5EF4-FFF2-40B4-BE49-F238E27FC236}">
                <a16:creationId xmlns:a16="http://schemas.microsoft.com/office/drawing/2014/main" id="{BB2B9F32-0873-0469-00E7-5EC047B639F2}"/>
              </a:ext>
            </a:extLst>
          </p:cNvPr>
          <p:cNvSpPr txBox="1"/>
          <p:nvPr/>
        </p:nvSpPr>
        <p:spPr>
          <a:xfrm>
            <a:off x="4762500" y="1790317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測試儀器的</a:t>
            </a:r>
            <a:r>
              <a:rPr lang="en-US" altLang="zh-CN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PHM</a:t>
            </a:r>
            <a:endParaRPr lang="en-US" sz="1100" dirty="0"/>
          </a:p>
        </p:txBody>
      </p:sp>
      <p:sp>
        <p:nvSpPr>
          <p:cNvPr id="76" name="AutoShape 13">
            <a:extLst>
              <a:ext uri="{FF2B5EF4-FFF2-40B4-BE49-F238E27FC236}">
                <a16:creationId xmlns:a16="http://schemas.microsoft.com/office/drawing/2014/main" id="{4468BF50-EA60-56FF-FC11-2C8CEB676B2E}"/>
              </a:ext>
            </a:extLst>
          </p:cNvPr>
          <p:cNvSpPr txBox="1"/>
          <p:nvPr/>
        </p:nvSpPr>
        <p:spPr>
          <a:xfrm>
            <a:off x="4762500" y="2145917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聚焦</a:t>
            </a:r>
            <a:r>
              <a:rPr lang="zh-CN" altLang="en-US" sz="1100" b="0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設備異常</a:t>
            </a:r>
            <a:endParaRPr lang="en-US" sz="1100" dirty="0"/>
          </a:p>
        </p:txBody>
      </p:sp>
      <p:cxnSp>
        <p:nvCxnSpPr>
          <p:cNvPr id="77" name="Connector 14">
            <a:extLst>
              <a:ext uri="{FF2B5EF4-FFF2-40B4-BE49-F238E27FC236}">
                <a16:creationId xmlns:a16="http://schemas.microsoft.com/office/drawing/2014/main" id="{61DCCE14-807C-2E79-9B44-29D159263C20}"/>
              </a:ext>
            </a:extLst>
          </p:cNvPr>
          <p:cNvCxnSpPr/>
          <p:nvPr/>
        </p:nvCxnSpPr>
        <p:spPr>
          <a:xfrm rot="-16370">
            <a:off x="4762515" y="2520567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" name="AutoShape 16">
            <a:extLst>
              <a:ext uri="{FF2B5EF4-FFF2-40B4-BE49-F238E27FC236}">
                <a16:creationId xmlns:a16="http://schemas.microsoft.com/office/drawing/2014/main" id="{3548252A-FD19-2DD3-DB65-3B31BFACE5EF}"/>
              </a:ext>
            </a:extLst>
          </p:cNvPr>
          <p:cNvSpPr/>
          <p:nvPr/>
        </p:nvSpPr>
        <p:spPr>
          <a:xfrm>
            <a:off x="8001000" y="1561716"/>
            <a:ext cx="3175000" cy="397094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80" name="AutoShape 17">
            <a:extLst>
              <a:ext uri="{FF2B5EF4-FFF2-40B4-BE49-F238E27FC236}">
                <a16:creationId xmlns:a16="http://schemas.microsoft.com/office/drawing/2014/main" id="{9C767908-011C-A1E3-0D93-1026AC32604B}"/>
              </a:ext>
            </a:extLst>
          </p:cNvPr>
          <p:cNvSpPr txBox="1"/>
          <p:nvPr/>
        </p:nvSpPr>
        <p:spPr>
          <a:xfrm>
            <a:off x="8255000" y="1790317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測試數據的</a:t>
            </a:r>
            <a:r>
              <a:rPr lang="en-US" altLang="zh-CN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PHM</a:t>
            </a:r>
            <a:endParaRPr lang="en-US" sz="1100" dirty="0"/>
          </a:p>
        </p:txBody>
      </p:sp>
      <p:sp>
        <p:nvSpPr>
          <p:cNvPr id="81" name="AutoShape 18">
            <a:extLst>
              <a:ext uri="{FF2B5EF4-FFF2-40B4-BE49-F238E27FC236}">
                <a16:creationId xmlns:a16="http://schemas.microsoft.com/office/drawing/2014/main" id="{C2F7C9D4-53DE-CB8F-70A4-A881F8D29D2D}"/>
              </a:ext>
            </a:extLst>
          </p:cNvPr>
          <p:cNvSpPr txBox="1"/>
          <p:nvPr/>
        </p:nvSpPr>
        <p:spPr>
          <a:xfrm>
            <a:off x="8255000" y="2145917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聚焦</a:t>
            </a:r>
            <a:r>
              <a:rPr lang="zh-CN" altLang="en-US" sz="1100" b="0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測試系統整體</a:t>
            </a:r>
            <a:endParaRPr lang="en-US" sz="1100" dirty="0"/>
          </a:p>
        </p:txBody>
      </p:sp>
      <p:cxnSp>
        <p:nvCxnSpPr>
          <p:cNvPr id="82" name="Connector 19">
            <a:extLst>
              <a:ext uri="{FF2B5EF4-FFF2-40B4-BE49-F238E27FC236}">
                <a16:creationId xmlns:a16="http://schemas.microsoft.com/office/drawing/2014/main" id="{A0086250-C0BE-E6AE-8BB7-E034E2EC3AF1}"/>
              </a:ext>
            </a:extLst>
          </p:cNvPr>
          <p:cNvCxnSpPr/>
          <p:nvPr/>
        </p:nvCxnSpPr>
        <p:spPr>
          <a:xfrm rot="-16370">
            <a:off x="8255015" y="2520567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標題 1">
            <a:extLst>
              <a:ext uri="{FF2B5EF4-FFF2-40B4-BE49-F238E27FC236}">
                <a16:creationId xmlns:a16="http://schemas.microsoft.com/office/drawing/2014/main" id="{EE99EF7F-2C23-5358-A754-CFE5CF4B1142}"/>
              </a:ext>
            </a:extLst>
          </p:cNvPr>
          <p:cNvSpPr txBox="1">
            <a:spLocks/>
          </p:cNvSpPr>
          <p:nvPr/>
        </p:nvSpPr>
        <p:spPr bwMode="auto">
          <a:xfrm>
            <a:off x="1985202" y="1136015"/>
            <a:ext cx="1236595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方案一</a:t>
            </a:r>
            <a:endParaRPr lang="zh-TW" altLang="en-US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9CE0BAF3-3446-6FBD-D1D5-E3999F018C70}"/>
              </a:ext>
            </a:extLst>
          </p:cNvPr>
          <p:cNvSpPr txBox="1">
            <a:spLocks/>
          </p:cNvSpPr>
          <p:nvPr/>
        </p:nvSpPr>
        <p:spPr bwMode="auto">
          <a:xfrm>
            <a:off x="5477702" y="1101214"/>
            <a:ext cx="1236595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方案二</a:t>
            </a:r>
            <a:endParaRPr lang="zh-TW" altLang="en-US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E22EAC28-D611-CF45-C2ED-96C2A50ED869}"/>
              </a:ext>
            </a:extLst>
          </p:cNvPr>
          <p:cNvSpPr txBox="1">
            <a:spLocks/>
          </p:cNvSpPr>
          <p:nvPr/>
        </p:nvSpPr>
        <p:spPr bwMode="auto">
          <a:xfrm>
            <a:off x="8970202" y="1130725"/>
            <a:ext cx="1236595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方案三</a:t>
            </a:r>
            <a:endParaRPr lang="zh-TW" altLang="en-US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7107F5-B25A-779E-C21A-36FE036F3D8C}"/>
              </a:ext>
            </a:extLst>
          </p:cNvPr>
          <p:cNvSpPr txBox="1"/>
          <p:nvPr/>
        </p:nvSpPr>
        <p:spPr>
          <a:xfrm>
            <a:off x="1107320" y="2571619"/>
            <a:ext cx="29923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监测对象</a:t>
            </a:r>
            <a:r>
              <a:rPr lang="zh-CN" altLang="en-US" sz="11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：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测试针座、探针、铜排、接线端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 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子、继电器等</a:t>
            </a:r>
            <a:endParaRPr lang="zh-TW" altLang="en-US" sz="1100" u="sng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82B6EAE-F4E5-0EB0-80F2-D410E5F8EE35}"/>
              </a:ext>
            </a:extLst>
          </p:cNvPr>
          <p:cNvSpPr txBox="1"/>
          <p:nvPr/>
        </p:nvSpPr>
        <p:spPr>
          <a:xfrm>
            <a:off x="1107320" y="3058199"/>
            <a:ext cx="10655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可采集的特徵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17685BD5-F04A-2091-610D-C1E8054008B2}"/>
              </a:ext>
            </a:extLst>
          </p:cNvPr>
          <p:cNvSpPr txBox="1"/>
          <p:nvPr/>
        </p:nvSpPr>
        <p:spPr>
          <a:xfrm>
            <a:off x="4641163" y="3274099"/>
            <a:ext cx="2826987" cy="1007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輸出電壓誤差 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波形失真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輸出阻抗變大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(AC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可程式交流源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電流采集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漂移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載入響應變慢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直流電子負載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) …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5E4929E-1C52-001A-C55E-8A806F1894D6}"/>
              </a:ext>
            </a:extLst>
          </p:cNvPr>
          <p:cNvSpPr txBox="1"/>
          <p:nvPr/>
        </p:nvSpPr>
        <p:spPr>
          <a:xfrm>
            <a:off x="4588022" y="2571619"/>
            <a:ext cx="29923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监测对象</a:t>
            </a:r>
            <a:r>
              <a:rPr lang="zh-CN" altLang="en-US" sz="11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：測試站臺所使用的各個測試儀器設備</a:t>
            </a:r>
            <a:endParaRPr lang="zh-TW" altLang="en-US" sz="1100" u="sng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53E6509-904C-4530-52DE-A05B2B673D18}"/>
              </a:ext>
            </a:extLst>
          </p:cNvPr>
          <p:cNvSpPr txBox="1"/>
          <p:nvPr/>
        </p:nvSpPr>
        <p:spPr>
          <a:xfrm>
            <a:off x="4588022" y="3058199"/>
            <a:ext cx="29923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可采集的特徵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4948B3C3-AB17-965D-9F49-A874DB52276C}"/>
              </a:ext>
            </a:extLst>
          </p:cNvPr>
          <p:cNvSpPr txBox="1"/>
          <p:nvPr/>
        </p:nvSpPr>
        <p:spPr>
          <a:xfrm>
            <a:off x="8138856" y="3197515"/>
            <a:ext cx="2826987" cy="1007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同一型號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UUT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批量測試的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V/I/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紋波等均值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標準差長期漂移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良品靠近上下限比例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不同測試站臺之間結果的一致性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425DB8D-E1AE-1126-B353-371772189EC2}"/>
              </a:ext>
            </a:extLst>
          </p:cNvPr>
          <p:cNvSpPr txBox="1"/>
          <p:nvPr/>
        </p:nvSpPr>
        <p:spPr>
          <a:xfrm>
            <a:off x="8092322" y="2533051"/>
            <a:ext cx="29923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监测对象</a:t>
            </a:r>
            <a:r>
              <a:rPr lang="zh-CN" altLang="en-US" sz="11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：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每一項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UUT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待測指標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(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效率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, 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紋波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, 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動態負載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, 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保護點等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)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的長期統計分佈</a:t>
            </a:r>
            <a:endParaRPr lang="zh-TW" altLang="en-US" sz="1100" u="sng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16C1DF1-4F41-D133-C1CB-6F2C245F956D}"/>
              </a:ext>
            </a:extLst>
          </p:cNvPr>
          <p:cNvSpPr txBox="1"/>
          <p:nvPr/>
        </p:nvSpPr>
        <p:spPr>
          <a:xfrm>
            <a:off x="8092322" y="3019631"/>
            <a:ext cx="29923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可采集的特徵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1627B95-39FD-2CD7-BE49-2569DB5E2658}"/>
              </a:ext>
            </a:extLst>
          </p:cNvPr>
          <p:cNvSpPr txBox="1"/>
          <p:nvPr/>
        </p:nvSpPr>
        <p:spPr>
          <a:xfrm>
            <a:off x="1107320" y="4392899"/>
            <a:ext cx="877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PHM</a:t>
            </a:r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價值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7" name="AutoShape 10">
            <a:extLst>
              <a:ext uri="{FF2B5EF4-FFF2-40B4-BE49-F238E27FC236}">
                <a16:creationId xmlns:a16="http://schemas.microsoft.com/office/drawing/2014/main" id="{543CAF8D-806A-2267-33DA-7725EF07E0D5}"/>
              </a:ext>
            </a:extLst>
          </p:cNvPr>
          <p:cNvSpPr txBox="1"/>
          <p:nvPr/>
        </p:nvSpPr>
        <p:spPr>
          <a:xfrm>
            <a:off x="1160460" y="4706740"/>
            <a:ext cx="2909673" cy="7532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預測探針磨損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端子氧化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繼電器損壞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預警接觸不良導致的電壓跌落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導致隨機不良</a:t>
            </a:r>
            <a:endParaRPr lang="en-US" altLang="zh-CN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工具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治具等剩餘壽命預估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乘號 17">
            <a:extLst>
              <a:ext uri="{FF2B5EF4-FFF2-40B4-BE49-F238E27FC236}">
                <a16:creationId xmlns:a16="http://schemas.microsoft.com/office/drawing/2014/main" id="{CB118C5B-5C5A-B727-AA95-D0CBCD623745}"/>
              </a:ext>
            </a:extLst>
          </p:cNvPr>
          <p:cNvSpPr/>
          <p:nvPr/>
        </p:nvSpPr>
        <p:spPr>
          <a:xfrm>
            <a:off x="888603" y="5776998"/>
            <a:ext cx="485565" cy="35729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3EB07513-A8B8-8D03-139C-188B99E9D341}"/>
              </a:ext>
            </a:extLst>
          </p:cNvPr>
          <p:cNvSpPr txBox="1"/>
          <p:nvPr/>
        </p:nvSpPr>
        <p:spPr>
          <a:xfrm>
            <a:off x="1353264" y="5506978"/>
            <a:ext cx="2992358" cy="9781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針座探針繼電器等一般都是直接損壞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,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 預測困難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對於端子等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,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其插拔次數可統計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,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可以按一定時間進行更換即可</a:t>
            </a:r>
            <a:endParaRPr lang="en-US" sz="1100" dirty="0"/>
          </a:p>
        </p:txBody>
      </p:sp>
      <p:sp>
        <p:nvSpPr>
          <p:cNvPr id="20" name="乘號 19">
            <a:extLst>
              <a:ext uri="{FF2B5EF4-FFF2-40B4-BE49-F238E27FC236}">
                <a16:creationId xmlns:a16="http://schemas.microsoft.com/office/drawing/2014/main" id="{E7DE9724-C450-0A94-979D-5C5023C9DE0C}"/>
              </a:ext>
            </a:extLst>
          </p:cNvPr>
          <p:cNvSpPr/>
          <p:nvPr/>
        </p:nvSpPr>
        <p:spPr>
          <a:xfrm>
            <a:off x="4419260" y="5776998"/>
            <a:ext cx="485565" cy="35729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AutoShape 8">
            <a:extLst>
              <a:ext uri="{FF2B5EF4-FFF2-40B4-BE49-F238E27FC236}">
                <a16:creationId xmlns:a16="http://schemas.microsoft.com/office/drawing/2014/main" id="{7D216FF2-1A33-5D1F-B503-B5F3B90E02BC}"/>
              </a:ext>
            </a:extLst>
          </p:cNvPr>
          <p:cNvSpPr txBox="1"/>
          <p:nvPr/>
        </p:nvSpPr>
        <p:spPr>
          <a:xfrm>
            <a:off x="4904825" y="5691612"/>
            <a:ext cx="2778675" cy="79355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測試儀器使用壽命一般較長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大部分故障可重啓解決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對測試儀器底層不瞭解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,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獲取其内部數據較爲困難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23" name="AutoShape 8">
            <a:extLst>
              <a:ext uri="{FF2B5EF4-FFF2-40B4-BE49-F238E27FC236}">
                <a16:creationId xmlns:a16="http://schemas.microsoft.com/office/drawing/2014/main" id="{0C374860-6DEE-C9D5-0976-DE744EC7CCC2}"/>
              </a:ext>
            </a:extLst>
          </p:cNvPr>
          <p:cNvSpPr txBox="1"/>
          <p:nvPr/>
        </p:nvSpPr>
        <p:spPr>
          <a:xfrm>
            <a:off x="8397325" y="5646964"/>
            <a:ext cx="2778675" cy="9932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大量測試數據適合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PHM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系統進行分析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無需新增傳感器采集額外數據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通過大數據分析可以預測測試系統整體測試能力是否漂移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24" name="L 圖案 23">
            <a:extLst>
              <a:ext uri="{FF2B5EF4-FFF2-40B4-BE49-F238E27FC236}">
                <a16:creationId xmlns:a16="http://schemas.microsoft.com/office/drawing/2014/main" id="{724ADE02-6AA9-BF01-05F6-9A62AE512B77}"/>
              </a:ext>
            </a:extLst>
          </p:cNvPr>
          <p:cNvSpPr/>
          <p:nvPr/>
        </p:nvSpPr>
        <p:spPr>
          <a:xfrm rot="18562368">
            <a:off x="8019903" y="5874441"/>
            <a:ext cx="318748" cy="210301"/>
          </a:xfrm>
          <a:prstGeom prst="corner">
            <a:avLst>
              <a:gd name="adj1" fmla="val 33158"/>
              <a:gd name="adj2" fmla="val 30910"/>
            </a:avLst>
          </a:prstGeom>
          <a:solidFill>
            <a:srgbClr val="00BE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2A8FD93-CB25-77F8-18B0-A5D222AB16F0}"/>
              </a:ext>
            </a:extLst>
          </p:cNvPr>
          <p:cNvSpPr txBox="1"/>
          <p:nvPr/>
        </p:nvSpPr>
        <p:spPr>
          <a:xfrm>
            <a:off x="4588023" y="4392899"/>
            <a:ext cx="877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PHM</a:t>
            </a:r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價值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5" name="AutoShape 10">
            <a:extLst>
              <a:ext uri="{FF2B5EF4-FFF2-40B4-BE49-F238E27FC236}">
                <a16:creationId xmlns:a16="http://schemas.microsoft.com/office/drawing/2014/main" id="{627EEF3D-26EC-5E9A-183F-AD54A7FD33A5}"/>
              </a:ext>
            </a:extLst>
          </p:cNvPr>
          <p:cNvSpPr txBox="1"/>
          <p:nvPr/>
        </p:nvSpPr>
        <p:spPr>
          <a:xfrm>
            <a:off x="4599819" y="4706740"/>
            <a:ext cx="2909673" cy="56128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預知儀器漂移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提前安排校準維護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減少因爲測試儀器造成的假性不良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93AD66F-E366-0E05-7E75-6AD4734B17EE}"/>
              </a:ext>
            </a:extLst>
          </p:cNvPr>
          <p:cNvSpPr txBox="1"/>
          <p:nvPr/>
        </p:nvSpPr>
        <p:spPr>
          <a:xfrm>
            <a:off x="8092947" y="4388748"/>
            <a:ext cx="877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PHM</a:t>
            </a:r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價值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7" name="AutoShape 10">
            <a:extLst>
              <a:ext uri="{FF2B5EF4-FFF2-40B4-BE49-F238E27FC236}">
                <a16:creationId xmlns:a16="http://schemas.microsoft.com/office/drawing/2014/main" id="{ABAF3C8A-D438-F1D4-3547-FB612D06E80F}"/>
              </a:ext>
            </a:extLst>
          </p:cNvPr>
          <p:cNvSpPr txBox="1"/>
          <p:nvPr/>
        </p:nvSpPr>
        <p:spPr>
          <a:xfrm>
            <a:off x="8146087" y="4706740"/>
            <a:ext cx="2909673" cy="6913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監測測試系統整體整體測量能力是否漂移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儅大批量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UUT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參數緩慢靠近規格限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PHM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進行預警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;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識別測試站臺差異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提前安排維護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22284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3FC80-345A-EB13-843E-2D116905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06478"/>
            <a:ext cx="3295267" cy="894736"/>
          </a:xfrm>
        </p:spPr>
        <p:txBody>
          <a:bodyPr>
            <a:normAutofit/>
          </a:bodyPr>
          <a:lstStyle/>
          <a:p>
            <a:r>
              <a:rPr lang="zh-CN" altLang="en-US" dirty="0"/>
              <a:t>測試系統的</a:t>
            </a:r>
            <a:r>
              <a:rPr lang="en-US" altLang="zh-CN" dirty="0"/>
              <a:t>PHM</a:t>
            </a:r>
            <a:endParaRPr lang="zh-TW" altLang="en-US" dirty="0"/>
          </a:p>
        </p:txBody>
      </p:sp>
      <p:sp>
        <p:nvSpPr>
          <p:cNvPr id="5" name="圓角矩形 50">
            <a:extLst>
              <a:ext uri="{FF2B5EF4-FFF2-40B4-BE49-F238E27FC236}">
                <a16:creationId xmlns:a16="http://schemas.microsoft.com/office/drawing/2014/main" id="{AAF96243-57E4-5524-EAB3-78AFF34D92EF}"/>
              </a:ext>
            </a:extLst>
          </p:cNvPr>
          <p:cNvSpPr/>
          <p:nvPr/>
        </p:nvSpPr>
        <p:spPr>
          <a:xfrm>
            <a:off x="106168" y="1305259"/>
            <a:ext cx="11880001" cy="5170133"/>
          </a:xfrm>
          <a:prstGeom prst="roundRect">
            <a:avLst>
              <a:gd name="adj" fmla="val 3440"/>
            </a:avLst>
          </a:prstGeom>
          <a:noFill/>
          <a:ln w="28575">
            <a:solidFill>
              <a:srgbClr val="0087D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 dirty="0">
              <a:solidFill>
                <a:prstClr val="white"/>
              </a:solidFill>
              <a:latin typeface="Calibri"/>
              <a:ea typeface="新細明體" panose="02020500000000000000" pitchFamily="18" charset="-12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46BE395-8386-C78D-95BC-9D43002B0A80}"/>
              </a:ext>
            </a:extLst>
          </p:cNvPr>
          <p:cNvCxnSpPr>
            <a:cxnSpLocks/>
          </p:cNvCxnSpPr>
          <p:nvPr/>
        </p:nvCxnSpPr>
        <p:spPr>
          <a:xfrm>
            <a:off x="6096000" y="1280323"/>
            <a:ext cx="0" cy="5220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7197AC13-F222-ABBD-989D-EA48243B9816}"/>
              </a:ext>
            </a:extLst>
          </p:cNvPr>
          <p:cNvSpPr/>
          <p:nvPr/>
        </p:nvSpPr>
        <p:spPr>
          <a:xfrm>
            <a:off x="1911236" y="1104547"/>
            <a:ext cx="2321444" cy="396000"/>
          </a:xfrm>
          <a:prstGeom prst="rect">
            <a:avLst/>
          </a:prstGeom>
          <a:solidFill>
            <a:srgbClr val="0088DC"/>
          </a:solidFill>
          <a:ln>
            <a:noFill/>
          </a:ln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監測對象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064597-56B2-D2DA-85FC-8BA3B82744EB}"/>
              </a:ext>
            </a:extLst>
          </p:cNvPr>
          <p:cNvSpPr/>
          <p:nvPr/>
        </p:nvSpPr>
        <p:spPr>
          <a:xfrm>
            <a:off x="7659777" y="1104547"/>
            <a:ext cx="2321444" cy="396000"/>
          </a:xfrm>
          <a:prstGeom prst="rect">
            <a:avLst/>
          </a:prstGeom>
          <a:solidFill>
            <a:srgbClr val="0088DC"/>
          </a:solidFill>
          <a:ln>
            <a:noFill/>
          </a:ln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可行性分析</a:t>
            </a: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B4CEEB2A-52B3-51F1-5821-1D9E8A8F6E21}"/>
              </a:ext>
            </a:extLst>
          </p:cNvPr>
          <p:cNvCxnSpPr>
            <a:cxnSpLocks/>
          </p:cNvCxnSpPr>
          <p:nvPr/>
        </p:nvCxnSpPr>
        <p:spPr>
          <a:xfrm rot="16200000">
            <a:off x="6096000" y="-1978902"/>
            <a:ext cx="0" cy="11880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C0B25BC5-A58A-4AA0-3DC4-DFD8917F24FB}"/>
              </a:ext>
            </a:extLst>
          </p:cNvPr>
          <p:cNvSpPr/>
          <p:nvPr/>
        </p:nvSpPr>
        <p:spPr>
          <a:xfrm>
            <a:off x="1911236" y="3772341"/>
            <a:ext cx="2321444" cy="396000"/>
          </a:xfrm>
          <a:prstGeom prst="rect">
            <a:avLst/>
          </a:prstGeom>
          <a:solidFill>
            <a:srgbClr val="0088DC"/>
          </a:solidFill>
          <a:ln>
            <a:noFill/>
          </a:ln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關鍵挑戰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3F4BBB8-A74B-35C5-C40B-3108CAE5D0AB}"/>
              </a:ext>
            </a:extLst>
          </p:cNvPr>
          <p:cNvSpPr/>
          <p:nvPr/>
        </p:nvSpPr>
        <p:spPr>
          <a:xfrm>
            <a:off x="7659777" y="3772341"/>
            <a:ext cx="2321444" cy="396000"/>
          </a:xfrm>
          <a:prstGeom prst="rect">
            <a:avLst/>
          </a:prstGeom>
          <a:solidFill>
            <a:srgbClr val="0088DC"/>
          </a:solidFill>
          <a:ln>
            <a:noFill/>
          </a:ln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初步方案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2B49CCBD-74D5-5962-ED85-AAF197696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879" y="1742063"/>
            <a:ext cx="4926629" cy="203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87DC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產綫每天測試大量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PSU, </a:t>
            </a: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同一指標反復測試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形成長期數據分佈</a:t>
            </a:r>
            <a:endParaRPr lang="en-US" altLang="zh-CN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不需要新增传感器，原始读数已经在测试数据中</a:t>
            </a: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覆盖各類仪器、负载、治具、线缆、软件整条链路，比单看某一台仪器内部状态更接近真实测量行为</a:t>
            </a: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endParaRPr lang="en-US" altLang="zh-CN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文本框 195">
            <a:extLst>
              <a:ext uri="{FF2B5EF4-FFF2-40B4-BE49-F238E27FC236}">
                <a16:creationId xmlns:a16="http://schemas.microsoft.com/office/drawing/2014/main" id="{0F0812A0-5777-1C72-B5B2-FFF00525779C}"/>
              </a:ext>
            </a:extLst>
          </p:cNvPr>
          <p:cNvSpPr txBox="1"/>
          <p:nvPr/>
        </p:nvSpPr>
        <p:spPr>
          <a:xfrm>
            <a:off x="56337" y="1600636"/>
            <a:ext cx="288764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測試系統什麽時候不可信 </a:t>
            </a:r>
            <a:r>
              <a:rPr lang="en-US" altLang="zh-CN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DF0FE-6546-919F-2CA9-EFFFFDBFA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68" y="1939540"/>
            <a:ext cx="5939995" cy="1465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87DC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測量準確度是否漂移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實際輸出沒變</a:t>
            </a:r>
            <a:r>
              <a:rPr lang="en-US" altLang="zh-CN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測試系統報告的電壓</a:t>
            </a:r>
            <a:r>
              <a:rPr lang="en-US" altLang="zh-CN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/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電流逐漸偏離基準</a:t>
            </a:r>
            <a:endParaRPr lang="en-US" altLang="zh-CN" b="1" u="sng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測量重複性是否惡化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相同條件下重複測量</a:t>
            </a:r>
            <a:r>
              <a:rPr lang="en-US" altLang="zh-CN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讀數越來越分散</a:t>
            </a:r>
            <a:endParaRPr lang="en-US" altLang="zh-CN" b="1" u="sng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是否存在漸進式退化趨勢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治具和負載等接觸逐步惡化</a:t>
            </a:r>
            <a:r>
              <a:rPr lang="en-US" altLang="zh-CN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 不斷逼近不可接受誤差</a:t>
            </a:r>
            <a:endParaRPr lang="en-US" altLang="zh-CN" sz="1100" b="1" u="sng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Pass/Fail</a:t>
            </a: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判定是否仍可信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避免误判、漏判和测试系统失准导致的质量风险</a:t>
            </a:r>
            <a:endParaRPr lang="en-US" altLang="zh-CN" b="1" u="sng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10" name="直接连接符 3">
            <a:extLst>
              <a:ext uri="{FF2B5EF4-FFF2-40B4-BE49-F238E27FC236}">
                <a16:creationId xmlns:a16="http://schemas.microsoft.com/office/drawing/2014/main" id="{4AF98939-7BA2-BB74-58D7-F982C797D1C3}"/>
              </a:ext>
            </a:extLst>
          </p:cNvPr>
          <p:cNvCxnSpPr/>
          <p:nvPr/>
        </p:nvCxnSpPr>
        <p:spPr>
          <a:xfrm>
            <a:off x="3868805" y="816599"/>
            <a:ext cx="81671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標題 1">
            <a:extLst>
              <a:ext uri="{FF2B5EF4-FFF2-40B4-BE49-F238E27FC236}">
                <a16:creationId xmlns:a16="http://schemas.microsoft.com/office/drawing/2014/main" id="{0E4350FE-FD86-3797-6AE2-62E8A0EAEDA2}"/>
              </a:ext>
            </a:extLst>
          </p:cNvPr>
          <p:cNvSpPr txBox="1">
            <a:spLocks/>
          </p:cNvSpPr>
          <p:nvPr/>
        </p:nvSpPr>
        <p:spPr bwMode="auto">
          <a:xfrm>
            <a:off x="3868805" y="458816"/>
            <a:ext cx="816719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通過</a:t>
            </a:r>
            <a:r>
              <a:rPr lang="zh-CN" altLang="en-US" sz="2000" b="0" dirty="0">
                <a:solidFill>
                  <a:schemeClr val="tx2"/>
                </a:solidFill>
                <a:highlight>
                  <a:srgbClr val="FFFF00"/>
                </a:highlight>
              </a:rPr>
              <a:t>測試數據</a:t>
            </a:r>
            <a:r>
              <a:rPr lang="zh-CN" altLang="en-US" sz="2000" b="0" dirty="0">
                <a:solidFill>
                  <a:schemeClr val="tx2"/>
                </a:solidFill>
              </a:rPr>
              <a:t>分析並监测测试系统整体測試能力是否漂移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AutoShape 7">
                <a:extLst>
                  <a:ext uri="{FF2B5EF4-FFF2-40B4-BE49-F238E27FC236}">
                    <a16:creationId xmlns:a16="http://schemas.microsoft.com/office/drawing/2014/main" id="{66378385-5AF7-ACF4-E70C-B03FB269B8AF}"/>
                  </a:ext>
                </a:extLst>
              </p:cNvPr>
              <p:cNvSpPr txBox="1"/>
              <p:nvPr/>
            </p:nvSpPr>
            <p:spPr>
              <a:xfrm>
                <a:off x="155999" y="4557826"/>
                <a:ext cx="5265261" cy="674773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457200"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914400"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371600"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1828800"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286000"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2743200"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200400"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3657600"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測量值</m:t>
                      </m:r>
                      <m:r>
                        <a:rPr lang="en-US" altLang="zh-CN" sz="2400" b="1" i="1" smtClean="0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:</m:t>
                      </m:r>
                      <m:r>
                        <a:rPr lang="zh-CN" altLang="en-US" sz="2400" b="1" smtClean="0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𝑌</m:t>
                      </m:r>
                      <m:r>
                        <a:rPr lang="en-US" altLang="zh-CN" sz="2400" b="1" smtClean="0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=</m:t>
                      </m:r>
                      <m:sSub>
                        <m:sSubPr>
                          <m:ctrlPr>
                            <a:rPr lang="ar-AE" sz="2400" b="1" i="1">
                              <a:solidFill>
                                <a:srgbClr val="0D1326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1" i="1">
                              <a:solidFill>
                                <a:srgbClr val="0D1326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α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D1326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𝑈</m:t>
                          </m:r>
                          <m:r>
                            <a:rPr lang="ar-AE" sz="2400" b="0" i="1">
                              <a:solidFill>
                                <a:srgbClr val="0D1326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𝑈𝑇</m:t>
                          </m:r>
                        </m:sub>
                      </m:sSub>
                      <m:r>
                        <a:rPr lang="ar-AE" sz="2400" b="1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+</m:t>
                      </m:r>
                      <m:sSub>
                        <m:sSubPr>
                          <m:ctrlPr>
                            <a:rPr lang="ar-AE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β</m:t>
                          </m:r>
                        </m:e>
                        <m:sub>
                          <m:r>
                            <a:rPr lang="ar-AE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𝑡𝑒𝑠𝑡</m:t>
                          </m:r>
                        </m:sub>
                      </m:sSub>
                      <m:r>
                        <a:rPr lang="ar-AE" sz="2400" b="1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+</m:t>
                      </m:r>
                      <m:r>
                        <a:rPr lang="ar-AE" sz="2400" b="1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𝜀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5" name="AutoShape 7">
                <a:extLst>
                  <a:ext uri="{FF2B5EF4-FFF2-40B4-BE49-F238E27FC236}">
                    <a16:creationId xmlns:a16="http://schemas.microsoft.com/office/drawing/2014/main" id="{66378385-5AF7-ACF4-E70C-B03FB269B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99" y="4557826"/>
                <a:ext cx="5265261" cy="6747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utoShape 8">
            <a:extLst>
              <a:ext uri="{FF2B5EF4-FFF2-40B4-BE49-F238E27FC236}">
                <a16:creationId xmlns:a16="http://schemas.microsoft.com/office/drawing/2014/main" id="{BC883F9C-6E0B-D895-4EE1-26E8AB246ECA}"/>
              </a:ext>
            </a:extLst>
          </p:cNvPr>
          <p:cNvSpPr txBox="1"/>
          <p:nvPr/>
        </p:nvSpPr>
        <p:spPr>
          <a:xfrm>
            <a:off x="225060" y="5354048"/>
            <a:ext cx="1709891" cy="2538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zh-CN" altLang="en-US" sz="1300" b="1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待測物本身問題</a:t>
            </a:r>
            <a:endParaRPr lang="en-US" sz="1100" dirty="0"/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3118F939-E1D4-51A0-BEE8-58D7407A880F}"/>
              </a:ext>
            </a:extLst>
          </p:cNvPr>
          <p:cNvSpPr txBox="1"/>
          <p:nvPr/>
        </p:nvSpPr>
        <p:spPr>
          <a:xfrm>
            <a:off x="242129" y="5777302"/>
            <a:ext cx="1709891" cy="6031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33333"/>
              </a:lnSpc>
              <a:defRPr/>
            </a:pP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生產批次、物料、固件、設計變更導致偏差</a:t>
            </a:r>
            <a:endParaRPr lang="en-US" sz="1100" dirty="0"/>
          </a:p>
        </p:txBody>
      </p:sp>
      <p:sp>
        <p:nvSpPr>
          <p:cNvPr id="21" name="AutoShape 10">
            <a:extLst>
              <a:ext uri="{FF2B5EF4-FFF2-40B4-BE49-F238E27FC236}">
                <a16:creationId xmlns:a16="http://schemas.microsoft.com/office/drawing/2014/main" id="{5B423587-71EB-AA20-624C-129333B1BCE7}"/>
              </a:ext>
            </a:extLst>
          </p:cNvPr>
          <p:cNvSpPr txBox="1"/>
          <p:nvPr/>
        </p:nvSpPr>
        <p:spPr>
          <a:xfrm>
            <a:off x="2158914" y="5354048"/>
            <a:ext cx="1709891" cy="2538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zh-CN" altLang="en-US" sz="1300" b="1" i="0" u="none" strike="noStrike" dirty="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測試系統偏差</a:t>
            </a:r>
            <a:endParaRPr lang="en-US" sz="1100" dirty="0"/>
          </a:p>
        </p:txBody>
      </p:sp>
      <p:sp>
        <p:nvSpPr>
          <p:cNvPr id="22" name="AutoShape 11">
            <a:extLst>
              <a:ext uri="{FF2B5EF4-FFF2-40B4-BE49-F238E27FC236}">
                <a16:creationId xmlns:a16="http://schemas.microsoft.com/office/drawing/2014/main" id="{B3CF24F5-3B3A-BF0C-1F8E-4FA9CC65026D}"/>
              </a:ext>
            </a:extLst>
          </p:cNvPr>
          <p:cNvSpPr txBox="1"/>
          <p:nvPr/>
        </p:nvSpPr>
        <p:spPr>
          <a:xfrm>
            <a:off x="2158914" y="5777301"/>
            <a:ext cx="1709891" cy="6031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33333"/>
              </a:lnSpc>
              <a:defRPr/>
            </a:pP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實際輸出沒變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但是測試系統引入測量偏差</a:t>
            </a:r>
            <a:endParaRPr lang="en-US" sz="1100" dirty="0"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FA12B9E9-BA57-472C-BDE8-5A54A140DA16}"/>
              </a:ext>
            </a:extLst>
          </p:cNvPr>
          <p:cNvSpPr txBox="1"/>
          <p:nvPr/>
        </p:nvSpPr>
        <p:spPr>
          <a:xfrm>
            <a:off x="4091990" y="5354048"/>
            <a:ext cx="1709891" cy="2538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zh-CN" altLang="en-US" sz="13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環境與隨機誤差</a:t>
            </a:r>
            <a:endParaRPr lang="en-US" sz="1100" dirty="0"/>
          </a:p>
        </p:txBody>
      </p:sp>
      <p:sp>
        <p:nvSpPr>
          <p:cNvPr id="25" name="AutoShape 13">
            <a:extLst>
              <a:ext uri="{FF2B5EF4-FFF2-40B4-BE49-F238E27FC236}">
                <a16:creationId xmlns:a16="http://schemas.microsoft.com/office/drawing/2014/main" id="{01F28F49-3ECE-45AF-217F-E7CEE959B918}"/>
              </a:ext>
            </a:extLst>
          </p:cNvPr>
          <p:cNvSpPr txBox="1"/>
          <p:nvPr/>
        </p:nvSpPr>
        <p:spPr>
          <a:xfrm>
            <a:off x="4111826" y="5777301"/>
            <a:ext cx="1709891" cy="5465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33333"/>
              </a:lnSpc>
              <a:defRPr/>
            </a:pP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治具接觸阻抗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環境溫度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綫纜老化等條件叠加</a:t>
            </a:r>
            <a:endParaRPr lang="en-US" sz="1100" dirty="0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3AC72837-287B-1C2D-A015-AFB2147934C6}"/>
              </a:ext>
            </a:extLst>
          </p:cNvPr>
          <p:cNvCxnSpPr/>
          <p:nvPr/>
        </p:nvCxnSpPr>
        <p:spPr>
          <a:xfrm flipH="1">
            <a:off x="1707614" y="5117768"/>
            <a:ext cx="804232" cy="236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C5686D6E-85E0-A918-2F6F-F96C11D98F50}"/>
              </a:ext>
            </a:extLst>
          </p:cNvPr>
          <p:cNvCxnSpPr/>
          <p:nvPr/>
        </p:nvCxnSpPr>
        <p:spPr>
          <a:xfrm flipH="1">
            <a:off x="3481330" y="5117768"/>
            <a:ext cx="220337" cy="236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2ECBB493-BAE9-3B95-D2AC-C19609AEFB35}"/>
              </a:ext>
            </a:extLst>
          </p:cNvPr>
          <p:cNvCxnSpPr>
            <a:endCxn id="23" idx="0"/>
          </p:cNvCxnSpPr>
          <p:nvPr/>
        </p:nvCxnSpPr>
        <p:spPr>
          <a:xfrm>
            <a:off x="4594034" y="5117768"/>
            <a:ext cx="352902" cy="236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195">
            <a:extLst>
              <a:ext uri="{FF2B5EF4-FFF2-40B4-BE49-F238E27FC236}">
                <a16:creationId xmlns:a16="http://schemas.microsoft.com/office/drawing/2014/main" id="{B1E1D40A-B48A-D344-614D-F01AF1C92B1D}"/>
              </a:ext>
            </a:extLst>
          </p:cNvPr>
          <p:cNvSpPr txBox="1"/>
          <p:nvPr/>
        </p:nvSpPr>
        <p:spPr>
          <a:xfrm>
            <a:off x="119918" y="4289790"/>
            <a:ext cx="44123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僅看測試數據分佈無法判別是否是測試系統漂移</a:t>
            </a:r>
            <a:endParaRPr lang="en-US" altLang="zh-CN" sz="15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195">
            <a:extLst>
              <a:ext uri="{FF2B5EF4-FFF2-40B4-BE49-F238E27FC236}">
                <a16:creationId xmlns:a16="http://schemas.microsoft.com/office/drawing/2014/main" id="{9C3B5530-E2F7-39C0-F580-645E06767E90}"/>
              </a:ext>
            </a:extLst>
          </p:cNvPr>
          <p:cNvSpPr txBox="1"/>
          <p:nvPr/>
        </p:nvSpPr>
        <p:spPr>
          <a:xfrm>
            <a:off x="6390120" y="4569782"/>
            <a:ext cx="224268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A.</a:t>
            </a:r>
            <a:r>
              <a:rPr lang="zh-CN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Sans Serif" panose="020B0604020202020204" pitchFamily="34" charset="0"/>
                <a:ea typeface="微软雅黑" panose="020B0503020204020204" pitchFamily="34" charset="-122"/>
                <a:cs typeface="Microsoft Sans Serif" panose="020B0604020202020204" pitchFamily="34" charset="0"/>
              </a:rPr>
              <a:t>生產</a:t>
            </a:r>
            <a:r>
              <a:rPr lang="en-US" altLang="zh-CN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UUT</a:t>
            </a:r>
            <a:r>
              <a:rPr lang="zh-CN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Sans Serif" panose="020B0604020202020204" pitchFamily="34" charset="0"/>
                <a:ea typeface="微软雅黑" panose="020B0503020204020204" pitchFamily="34" charset="-122"/>
                <a:cs typeface="Microsoft Sans Serif" panose="020B0604020202020204" pitchFamily="34" charset="0"/>
              </a:rPr>
              <a:t>測試數據</a:t>
            </a:r>
            <a:endParaRPr lang="en-US" altLang="zh-CN" sz="1500" b="1" dirty="0">
              <a:solidFill>
                <a:schemeClr val="tx1">
                  <a:lumMod val="65000"/>
                  <a:lumOff val="35000"/>
                </a:schemeClr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9" name="AutoShape 13">
            <a:extLst>
              <a:ext uri="{FF2B5EF4-FFF2-40B4-BE49-F238E27FC236}">
                <a16:creationId xmlns:a16="http://schemas.microsoft.com/office/drawing/2014/main" id="{8BD20A1D-228C-970B-C860-DEA1BC1E410A}"/>
              </a:ext>
            </a:extLst>
          </p:cNvPr>
          <p:cNvSpPr txBox="1"/>
          <p:nvPr/>
        </p:nvSpPr>
        <p:spPr>
          <a:xfrm>
            <a:off x="8506067" y="4515608"/>
            <a:ext cx="397114" cy="39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endParaRPr lang="en-US" sz="1100" dirty="0"/>
          </a:p>
        </p:txBody>
      </p:sp>
      <p:sp>
        <p:nvSpPr>
          <p:cNvPr id="60" name="文本框 195">
            <a:extLst>
              <a:ext uri="{FF2B5EF4-FFF2-40B4-BE49-F238E27FC236}">
                <a16:creationId xmlns:a16="http://schemas.microsoft.com/office/drawing/2014/main" id="{3EF1B407-7F5D-044A-E527-3360265A6D72}"/>
              </a:ext>
            </a:extLst>
          </p:cNvPr>
          <p:cNvSpPr txBox="1"/>
          <p:nvPr/>
        </p:nvSpPr>
        <p:spPr>
          <a:xfrm>
            <a:off x="8888071" y="4566928"/>
            <a:ext cx="23214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lang="zh-CN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樣本參考件、基準數據</a:t>
            </a:r>
            <a:endParaRPr lang="en-US" altLang="zh-CN" sz="15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195">
            <a:extLst>
              <a:ext uri="{FF2B5EF4-FFF2-40B4-BE49-F238E27FC236}">
                <a16:creationId xmlns:a16="http://schemas.microsoft.com/office/drawing/2014/main" id="{F6A3361B-1D4D-811A-BF8F-EC1E87A1E42A}"/>
              </a:ext>
            </a:extLst>
          </p:cNvPr>
          <p:cNvSpPr txBox="1"/>
          <p:nvPr/>
        </p:nvSpPr>
        <p:spPr>
          <a:xfrm>
            <a:off x="6313627" y="5071016"/>
            <a:ext cx="22416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發現異常</a:t>
            </a:r>
            <a:endParaRPr lang="en-US" altLang="zh-CN" sz="15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195">
            <a:extLst>
              <a:ext uri="{FF2B5EF4-FFF2-40B4-BE49-F238E27FC236}">
                <a16:creationId xmlns:a16="http://schemas.microsoft.com/office/drawing/2014/main" id="{75E2267E-BC0F-44F7-76BB-E6D67237D8CE}"/>
              </a:ext>
            </a:extLst>
          </p:cNvPr>
          <p:cNvSpPr txBox="1"/>
          <p:nvPr/>
        </p:nvSpPr>
        <p:spPr>
          <a:xfrm>
            <a:off x="8977445" y="5030733"/>
            <a:ext cx="22416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確認漂移</a:t>
            </a:r>
            <a:endParaRPr lang="en-US" altLang="zh-CN" sz="15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AutoShape 13">
            <a:extLst>
              <a:ext uri="{FF2B5EF4-FFF2-40B4-BE49-F238E27FC236}">
                <a16:creationId xmlns:a16="http://schemas.microsoft.com/office/drawing/2014/main" id="{504EA283-07A0-B3FC-CA2A-6EBD878A151D}"/>
              </a:ext>
            </a:extLst>
          </p:cNvPr>
          <p:cNvSpPr txBox="1"/>
          <p:nvPr/>
        </p:nvSpPr>
        <p:spPr>
          <a:xfrm>
            <a:off x="6612296" y="5558804"/>
            <a:ext cx="4116060" cy="5465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33333"/>
              </a:lnSpc>
              <a:defRPr/>
            </a:pP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報警時用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進行復核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將</a:t>
            </a:r>
            <a:r>
              <a:rPr lang="en-US" altLang="zh-CN" sz="12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'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產品問題</a:t>
            </a:r>
            <a:r>
              <a:rPr lang="en-US" altLang="zh-CN" sz="12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'  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與 </a:t>
            </a:r>
            <a:r>
              <a:rPr lang="en-US" altLang="zh-CN" sz="12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'</a:t>
            </a:r>
            <a:r>
              <a:rPr lang="zh-CN" altLang="en-US" sz="12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測試系統問題</a:t>
            </a:r>
            <a:r>
              <a:rPr lang="en-US" altLang="zh-CN" sz="12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' 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區分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94828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3FC80-345A-EB13-843E-2D116905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06478"/>
            <a:ext cx="3295267" cy="894736"/>
          </a:xfrm>
        </p:spPr>
        <p:txBody>
          <a:bodyPr>
            <a:normAutofit/>
          </a:bodyPr>
          <a:lstStyle/>
          <a:p>
            <a:r>
              <a:rPr lang="en-US" altLang="zh-CN" dirty="0"/>
              <a:t>How to do</a:t>
            </a:r>
            <a:endParaRPr lang="zh-TW" altLang="en-US" dirty="0"/>
          </a:p>
        </p:txBody>
      </p:sp>
      <p:cxnSp>
        <p:nvCxnSpPr>
          <p:cNvPr id="10" name="直接连接符 3">
            <a:extLst>
              <a:ext uri="{FF2B5EF4-FFF2-40B4-BE49-F238E27FC236}">
                <a16:creationId xmlns:a16="http://schemas.microsoft.com/office/drawing/2014/main" id="{4AF98939-7BA2-BB74-58D7-F982C797D1C3}"/>
              </a:ext>
            </a:extLst>
          </p:cNvPr>
          <p:cNvCxnSpPr/>
          <p:nvPr/>
        </p:nvCxnSpPr>
        <p:spPr>
          <a:xfrm>
            <a:off x="3868805" y="816599"/>
            <a:ext cx="81671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標題 1">
            <a:extLst>
              <a:ext uri="{FF2B5EF4-FFF2-40B4-BE49-F238E27FC236}">
                <a16:creationId xmlns:a16="http://schemas.microsoft.com/office/drawing/2014/main" id="{0E4350FE-FD86-3797-6AE2-62E8A0EAEDA2}"/>
              </a:ext>
            </a:extLst>
          </p:cNvPr>
          <p:cNvSpPr txBox="1">
            <a:spLocks/>
          </p:cNvSpPr>
          <p:nvPr/>
        </p:nvSpPr>
        <p:spPr bwMode="auto">
          <a:xfrm>
            <a:off x="3868805" y="458816"/>
            <a:ext cx="816719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endParaRPr lang="zh-TW" altLang="en-US" sz="2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158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3FC80-345A-EB13-843E-2D116905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2572" y="106965"/>
            <a:ext cx="3295267" cy="894736"/>
          </a:xfrm>
        </p:spPr>
        <p:txBody>
          <a:bodyPr>
            <a:normAutofit/>
          </a:bodyPr>
          <a:lstStyle/>
          <a:p>
            <a:r>
              <a:rPr lang="zh-CN" altLang="en-US" dirty="0"/>
              <a:t>數據采集</a:t>
            </a:r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ABEA8D8D-436B-4F78-5FD1-BB45A61BD7B8}"/>
              </a:ext>
            </a:extLst>
          </p:cNvPr>
          <p:cNvSpPr txBox="1">
            <a:spLocks/>
          </p:cNvSpPr>
          <p:nvPr/>
        </p:nvSpPr>
        <p:spPr bwMode="auto">
          <a:xfrm>
            <a:off x="167734" y="881916"/>
            <a:ext cx="294880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en-US" altLang="zh-CN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Manual</a:t>
            </a:r>
            <a:r>
              <a:rPr lang="zh-CN" alt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站</a:t>
            </a:r>
            <a:endParaRPr lang="zh-TW" altLang="en-US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5E1F1A-5FB7-0103-356D-33B206205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34" y="1334951"/>
            <a:ext cx="3942539" cy="2049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E59EC1C-19C5-9703-4E5F-5932D75DA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767" y="1334951"/>
            <a:ext cx="4780230" cy="2049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1C769551-7D60-9A9C-D2DB-1D404617F0FF}"/>
              </a:ext>
            </a:extLst>
          </p:cNvPr>
          <p:cNvSpPr txBox="1"/>
          <p:nvPr/>
        </p:nvSpPr>
        <p:spPr>
          <a:xfrm>
            <a:off x="2252874" y="1574265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Bulk1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电压</a:t>
            </a:r>
            <a:endParaRPr lang="zh-TW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CE64F3F-B483-94B2-5C97-E799CABA3E1A}"/>
              </a:ext>
            </a:extLst>
          </p:cNvPr>
          <p:cNvSpPr txBox="1"/>
          <p:nvPr/>
        </p:nvSpPr>
        <p:spPr>
          <a:xfrm>
            <a:off x="2252873" y="2592655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Bulk2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电压</a:t>
            </a:r>
            <a:endParaRPr lang="zh-TW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A3FEA47-7A89-3563-DD66-9B3DD5C129B1}"/>
              </a:ext>
            </a:extLst>
          </p:cNvPr>
          <p:cNvSpPr txBox="1"/>
          <p:nvPr/>
        </p:nvSpPr>
        <p:spPr>
          <a:xfrm>
            <a:off x="6460737" y="1574265"/>
            <a:ext cx="1596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V1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VSB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电压</a:t>
            </a:r>
            <a:endParaRPr lang="zh-TW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0082D149-CC29-AC7A-D712-2979E0B4032C}"/>
              </a:ext>
            </a:extLst>
          </p:cNvPr>
          <p:cNvSpPr txBox="1">
            <a:spLocks/>
          </p:cNvSpPr>
          <p:nvPr/>
        </p:nvSpPr>
        <p:spPr bwMode="auto">
          <a:xfrm>
            <a:off x="167734" y="5790226"/>
            <a:ext cx="7889850" cy="346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1600" b="0" dirty="0">
                <a:solidFill>
                  <a:schemeClr val="tx2"/>
                </a:solidFill>
              </a:rPr>
              <a:t>问题</a:t>
            </a:r>
            <a:r>
              <a:rPr lang="en-US" altLang="zh-CN" sz="1600" b="0" dirty="0">
                <a:solidFill>
                  <a:schemeClr val="tx2"/>
                </a:solidFill>
              </a:rPr>
              <a:t>1:</a:t>
            </a:r>
            <a:r>
              <a:rPr lang="zh-CN" altLang="en-US" sz="1600" b="0" dirty="0">
                <a:solidFill>
                  <a:schemeClr val="tx2"/>
                </a:solidFill>
              </a:rPr>
              <a:t>量测值皆为产品本身输出，是否可用来做</a:t>
            </a:r>
            <a:r>
              <a:rPr lang="en-US" altLang="zh-CN" sz="1600" b="0" dirty="0">
                <a:solidFill>
                  <a:schemeClr val="tx2"/>
                </a:solidFill>
              </a:rPr>
              <a:t>manual</a:t>
            </a:r>
            <a:r>
              <a:rPr lang="zh-CN" altLang="en-US" sz="1600" b="0" dirty="0">
                <a:solidFill>
                  <a:schemeClr val="tx2"/>
                </a:solidFill>
              </a:rPr>
              <a:t>站测试系统的</a:t>
            </a:r>
            <a:r>
              <a:rPr lang="en-US" altLang="zh-CN" sz="1600" b="0" dirty="0">
                <a:solidFill>
                  <a:schemeClr val="tx2"/>
                </a:solidFill>
              </a:rPr>
              <a:t>PHM</a:t>
            </a:r>
            <a:r>
              <a:rPr lang="zh-CN" altLang="en-US" sz="1600" b="0" dirty="0">
                <a:solidFill>
                  <a:schemeClr val="tx2"/>
                </a:solidFill>
              </a:rPr>
              <a:t>有待商榷</a:t>
            </a:r>
            <a:endParaRPr lang="en-US" altLang="zh-CN" sz="1600" b="0" dirty="0">
              <a:solidFill>
                <a:schemeClr val="tx2"/>
              </a:solidFill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EA53A2B-B11E-AFF4-FDDA-1660924A604E}"/>
              </a:ext>
            </a:extLst>
          </p:cNvPr>
          <p:cNvSpPr txBox="1">
            <a:spLocks/>
          </p:cNvSpPr>
          <p:nvPr/>
        </p:nvSpPr>
        <p:spPr bwMode="auto">
          <a:xfrm>
            <a:off x="167734" y="6145063"/>
            <a:ext cx="8152401" cy="346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1600" b="0" dirty="0">
                <a:solidFill>
                  <a:schemeClr val="tx2"/>
                </a:solidFill>
              </a:rPr>
              <a:t>问题</a:t>
            </a:r>
            <a:r>
              <a:rPr lang="en-US" altLang="zh-CN" sz="1600" b="0" dirty="0">
                <a:solidFill>
                  <a:schemeClr val="tx2"/>
                </a:solidFill>
              </a:rPr>
              <a:t>1:</a:t>
            </a:r>
            <a:r>
              <a:rPr lang="zh-CN" altLang="en-US" sz="1600" b="0" dirty="0">
                <a:solidFill>
                  <a:schemeClr val="tx2"/>
                </a:solidFill>
              </a:rPr>
              <a:t>所有波动是</a:t>
            </a:r>
            <a:r>
              <a:rPr lang="en-US" altLang="zh-CN" sz="1600" b="0" dirty="0">
                <a:solidFill>
                  <a:schemeClr val="tx2"/>
                </a:solidFill>
              </a:rPr>
              <a:t>DUT</a:t>
            </a:r>
            <a:r>
              <a:rPr lang="zh-CN" altLang="en-US" sz="1600" b="0" dirty="0">
                <a:solidFill>
                  <a:schemeClr val="tx2"/>
                </a:solidFill>
              </a:rPr>
              <a:t>本身正常离散和正常随机噪声，没有测试系统老化带来的渐变信号</a:t>
            </a:r>
            <a:endParaRPr lang="en-US" altLang="zh-CN" sz="16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069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3FC80-345A-EB13-843E-2D116905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06478"/>
            <a:ext cx="3295267" cy="894736"/>
          </a:xfrm>
        </p:spPr>
        <p:txBody>
          <a:bodyPr>
            <a:normAutofit/>
          </a:bodyPr>
          <a:lstStyle/>
          <a:p>
            <a:r>
              <a:rPr lang="zh-CN" altLang="en-US" dirty="0"/>
              <a:t>數據采集</a:t>
            </a:r>
            <a:endParaRPr lang="zh-TW" altLang="en-US" dirty="0"/>
          </a:p>
        </p:txBody>
      </p:sp>
      <p:cxnSp>
        <p:nvCxnSpPr>
          <p:cNvPr id="10" name="直接连接符 3">
            <a:extLst>
              <a:ext uri="{FF2B5EF4-FFF2-40B4-BE49-F238E27FC236}">
                <a16:creationId xmlns:a16="http://schemas.microsoft.com/office/drawing/2014/main" id="{4AF98939-7BA2-BB74-58D7-F982C797D1C3}"/>
              </a:ext>
            </a:extLst>
          </p:cNvPr>
          <p:cNvCxnSpPr/>
          <p:nvPr/>
        </p:nvCxnSpPr>
        <p:spPr>
          <a:xfrm>
            <a:off x="3868805" y="816599"/>
            <a:ext cx="81671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標題 1">
            <a:extLst>
              <a:ext uri="{FF2B5EF4-FFF2-40B4-BE49-F238E27FC236}">
                <a16:creationId xmlns:a16="http://schemas.microsoft.com/office/drawing/2014/main" id="{0E4350FE-FD86-3797-6AE2-62E8A0EAEDA2}"/>
              </a:ext>
            </a:extLst>
          </p:cNvPr>
          <p:cNvSpPr txBox="1">
            <a:spLocks/>
          </p:cNvSpPr>
          <p:nvPr/>
        </p:nvSpPr>
        <p:spPr bwMode="auto">
          <a:xfrm>
            <a:off x="3868805" y="458816"/>
            <a:ext cx="816719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通過每一站測試數據</a:t>
            </a:r>
            <a:r>
              <a:rPr lang="en-US" altLang="zh-CN" sz="2000" b="0" dirty="0">
                <a:solidFill>
                  <a:schemeClr val="tx2"/>
                </a:solidFill>
              </a:rPr>
              <a:t>, </a:t>
            </a:r>
            <a:r>
              <a:rPr lang="zh-CN" altLang="en-US" sz="2000" b="0" dirty="0">
                <a:solidFill>
                  <a:schemeClr val="tx2"/>
                </a:solidFill>
              </a:rPr>
              <a:t>確定可用於</a:t>
            </a:r>
            <a:r>
              <a:rPr lang="en-US" altLang="zh-CN" sz="2000" b="0" dirty="0">
                <a:solidFill>
                  <a:schemeClr val="tx2"/>
                </a:solidFill>
              </a:rPr>
              <a:t>PHM</a:t>
            </a:r>
            <a:r>
              <a:rPr lang="zh-CN" altLang="en-US" sz="2000" b="0" dirty="0">
                <a:solidFill>
                  <a:schemeClr val="tx2"/>
                </a:solidFill>
              </a:rPr>
              <a:t>的參數指標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ABEA8D8D-436B-4F78-5FD1-BB45A61BD7B8}"/>
              </a:ext>
            </a:extLst>
          </p:cNvPr>
          <p:cNvSpPr txBox="1">
            <a:spLocks/>
          </p:cNvSpPr>
          <p:nvPr/>
        </p:nvSpPr>
        <p:spPr bwMode="auto">
          <a:xfrm>
            <a:off x="579631" y="1449525"/>
            <a:ext cx="294880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en-US" altLang="zh-CN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I2C1-1</a:t>
            </a:r>
            <a:endParaRPr lang="zh-TW" altLang="en-US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1417054-55AF-FF22-7930-5EBD58D8ECA5}"/>
              </a:ext>
            </a:extLst>
          </p:cNvPr>
          <p:cNvSpPr txBox="1"/>
          <p:nvPr/>
        </p:nvSpPr>
        <p:spPr>
          <a:xfrm>
            <a:off x="2833512" y="1525195"/>
            <a:ext cx="173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Inrush current</a:t>
            </a:r>
            <a:endParaRPr lang="zh-TW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00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3FC80-345A-EB13-843E-2D116905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06478"/>
            <a:ext cx="3295267" cy="894736"/>
          </a:xfrm>
        </p:spPr>
        <p:txBody>
          <a:bodyPr>
            <a:normAutofit/>
          </a:bodyPr>
          <a:lstStyle/>
          <a:p>
            <a:r>
              <a:rPr lang="zh-CN" altLang="en-US" dirty="0"/>
              <a:t>數據采集</a:t>
            </a:r>
            <a:endParaRPr lang="zh-TW" altLang="en-US" dirty="0"/>
          </a:p>
        </p:txBody>
      </p:sp>
      <p:cxnSp>
        <p:nvCxnSpPr>
          <p:cNvPr id="10" name="直接连接符 3">
            <a:extLst>
              <a:ext uri="{FF2B5EF4-FFF2-40B4-BE49-F238E27FC236}">
                <a16:creationId xmlns:a16="http://schemas.microsoft.com/office/drawing/2014/main" id="{4AF98939-7BA2-BB74-58D7-F982C797D1C3}"/>
              </a:ext>
            </a:extLst>
          </p:cNvPr>
          <p:cNvCxnSpPr/>
          <p:nvPr/>
        </p:nvCxnSpPr>
        <p:spPr>
          <a:xfrm>
            <a:off x="3868805" y="816599"/>
            <a:ext cx="81671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標題 1">
            <a:extLst>
              <a:ext uri="{FF2B5EF4-FFF2-40B4-BE49-F238E27FC236}">
                <a16:creationId xmlns:a16="http://schemas.microsoft.com/office/drawing/2014/main" id="{0E4350FE-FD86-3797-6AE2-62E8A0EAEDA2}"/>
              </a:ext>
            </a:extLst>
          </p:cNvPr>
          <p:cNvSpPr txBox="1">
            <a:spLocks/>
          </p:cNvSpPr>
          <p:nvPr/>
        </p:nvSpPr>
        <p:spPr bwMode="auto">
          <a:xfrm>
            <a:off x="3868805" y="458816"/>
            <a:ext cx="816719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通過每一站測試數據</a:t>
            </a:r>
            <a:r>
              <a:rPr lang="en-US" altLang="zh-CN" sz="2000" b="0" dirty="0">
                <a:solidFill>
                  <a:schemeClr val="tx2"/>
                </a:solidFill>
              </a:rPr>
              <a:t>, </a:t>
            </a:r>
            <a:r>
              <a:rPr lang="zh-CN" altLang="en-US" sz="2000" b="0" dirty="0">
                <a:solidFill>
                  <a:schemeClr val="tx2"/>
                </a:solidFill>
              </a:rPr>
              <a:t>確定可用於</a:t>
            </a:r>
            <a:r>
              <a:rPr lang="en-US" altLang="zh-CN" sz="2000" b="0" dirty="0">
                <a:solidFill>
                  <a:schemeClr val="tx2"/>
                </a:solidFill>
              </a:rPr>
              <a:t>PHM</a:t>
            </a:r>
            <a:r>
              <a:rPr lang="zh-CN" altLang="en-US" sz="2000" b="0" dirty="0">
                <a:solidFill>
                  <a:schemeClr val="tx2"/>
                </a:solidFill>
              </a:rPr>
              <a:t>的參數指標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ABEA8D8D-436B-4F78-5FD1-BB45A61BD7B8}"/>
              </a:ext>
            </a:extLst>
          </p:cNvPr>
          <p:cNvSpPr txBox="1">
            <a:spLocks/>
          </p:cNvSpPr>
          <p:nvPr/>
        </p:nvSpPr>
        <p:spPr bwMode="auto">
          <a:xfrm>
            <a:off x="579631" y="1449525"/>
            <a:ext cx="294880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en-US" altLang="zh-CN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ATS2-1</a:t>
            </a:r>
            <a:endParaRPr lang="zh-TW" altLang="en-US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EEE52F4-5E2A-CC2A-AAD3-D8FA1687B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894530"/>
            <a:ext cx="4255362" cy="196483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76A711B-0D43-5557-F386-E99B16384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4143978"/>
            <a:ext cx="4387866" cy="238144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1417054-55AF-FF22-7930-5EBD58D8ECA5}"/>
              </a:ext>
            </a:extLst>
          </p:cNvPr>
          <p:cNvSpPr txBox="1"/>
          <p:nvPr/>
        </p:nvSpPr>
        <p:spPr>
          <a:xfrm>
            <a:off x="2534081" y="2650083"/>
            <a:ext cx="173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Inrush current</a:t>
            </a:r>
            <a:endParaRPr lang="zh-TW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6A93A30-E2CE-28BD-E4F0-284839DBE63E}"/>
              </a:ext>
            </a:extLst>
          </p:cNvPr>
          <p:cNvSpPr txBox="1"/>
          <p:nvPr/>
        </p:nvSpPr>
        <p:spPr>
          <a:xfrm>
            <a:off x="3528435" y="4537729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V1</a:t>
            </a:r>
            <a:endParaRPr lang="zh-TW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B93727D-E323-291E-C900-47BDAF5C9C9B}"/>
              </a:ext>
            </a:extLst>
          </p:cNvPr>
          <p:cNvSpPr txBox="1"/>
          <p:nvPr/>
        </p:nvSpPr>
        <p:spPr>
          <a:xfrm>
            <a:off x="3528435" y="5856735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V</a:t>
            </a:r>
            <a:r>
              <a:rPr lang="en-US" altLang="zh-CN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sb</a:t>
            </a:r>
            <a:endParaRPr lang="zh-TW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A7A4A85C-2FCD-5795-1357-D843A72C1A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497" y="1722195"/>
            <a:ext cx="4418026" cy="2815534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D572D72E-406A-08F6-7561-2BD53E7AC2F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4033" y="2280751"/>
            <a:ext cx="1095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Vout_V1</a:t>
            </a:r>
            <a:endParaRPr lang="zh-TW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5D358B7-FF3D-09BF-C010-CB3FEFFAC69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52402" y="3511243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Iout_V1</a:t>
            </a:r>
            <a:endParaRPr lang="zh-TW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E404A72-A0C1-1740-FBF6-AF601B1B22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7497" y="4631860"/>
            <a:ext cx="4683354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603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3FC80-345A-EB13-843E-2D116905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06478"/>
            <a:ext cx="3295267" cy="894736"/>
          </a:xfrm>
        </p:spPr>
        <p:txBody>
          <a:bodyPr>
            <a:normAutofit/>
          </a:bodyPr>
          <a:lstStyle/>
          <a:p>
            <a:r>
              <a:rPr lang="zh-CN" altLang="en-US" dirty="0"/>
              <a:t>數據采集</a:t>
            </a:r>
            <a:endParaRPr lang="zh-TW" altLang="en-US" dirty="0"/>
          </a:p>
        </p:txBody>
      </p:sp>
      <p:cxnSp>
        <p:nvCxnSpPr>
          <p:cNvPr id="10" name="直接连接符 3">
            <a:extLst>
              <a:ext uri="{FF2B5EF4-FFF2-40B4-BE49-F238E27FC236}">
                <a16:creationId xmlns:a16="http://schemas.microsoft.com/office/drawing/2014/main" id="{4AF98939-7BA2-BB74-58D7-F982C797D1C3}"/>
              </a:ext>
            </a:extLst>
          </p:cNvPr>
          <p:cNvCxnSpPr/>
          <p:nvPr/>
        </p:nvCxnSpPr>
        <p:spPr>
          <a:xfrm>
            <a:off x="3868805" y="816599"/>
            <a:ext cx="81671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標題 1">
            <a:extLst>
              <a:ext uri="{FF2B5EF4-FFF2-40B4-BE49-F238E27FC236}">
                <a16:creationId xmlns:a16="http://schemas.microsoft.com/office/drawing/2014/main" id="{0E4350FE-FD86-3797-6AE2-62E8A0EAEDA2}"/>
              </a:ext>
            </a:extLst>
          </p:cNvPr>
          <p:cNvSpPr txBox="1">
            <a:spLocks/>
          </p:cNvSpPr>
          <p:nvPr/>
        </p:nvSpPr>
        <p:spPr bwMode="auto">
          <a:xfrm>
            <a:off x="3868805" y="458816"/>
            <a:ext cx="816719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通過每一站測試數據</a:t>
            </a:r>
            <a:r>
              <a:rPr lang="en-US" altLang="zh-CN" sz="2000" b="0" dirty="0">
                <a:solidFill>
                  <a:schemeClr val="tx2"/>
                </a:solidFill>
              </a:rPr>
              <a:t>, </a:t>
            </a:r>
            <a:r>
              <a:rPr lang="zh-CN" altLang="en-US" sz="2000" b="0" dirty="0">
                <a:solidFill>
                  <a:schemeClr val="tx2"/>
                </a:solidFill>
              </a:rPr>
              <a:t>確定可用於</a:t>
            </a:r>
            <a:r>
              <a:rPr lang="en-US" altLang="zh-CN" sz="2000" b="0" dirty="0">
                <a:solidFill>
                  <a:schemeClr val="tx2"/>
                </a:solidFill>
              </a:rPr>
              <a:t>PHM</a:t>
            </a:r>
            <a:r>
              <a:rPr lang="zh-CN" altLang="en-US" sz="2000" b="0" dirty="0">
                <a:solidFill>
                  <a:schemeClr val="tx2"/>
                </a:solidFill>
              </a:rPr>
              <a:t>的參數指標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BB62F84-F8DA-2F47-705E-F0AD5ECFA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095148"/>
              </p:ext>
            </p:extLst>
          </p:nvPr>
        </p:nvGraphicFramePr>
        <p:xfrm>
          <a:off x="971739" y="2067092"/>
          <a:ext cx="925867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737">
                  <a:extLst>
                    <a:ext uri="{9D8B030D-6E8A-4147-A177-3AD203B41FA5}">
                      <a16:colId xmlns:a16="http://schemas.microsoft.com/office/drawing/2014/main" val="4240831644"/>
                    </a:ext>
                  </a:extLst>
                </a:gridCol>
                <a:gridCol w="3987665">
                  <a:extLst>
                    <a:ext uri="{9D8B030D-6E8A-4147-A177-3AD203B41FA5}">
                      <a16:colId xmlns:a16="http://schemas.microsoft.com/office/drawing/2014/main" val="3063035510"/>
                    </a:ext>
                  </a:extLst>
                </a:gridCol>
                <a:gridCol w="3646275">
                  <a:extLst>
                    <a:ext uri="{9D8B030D-6E8A-4147-A177-3AD203B41FA5}">
                      <a16:colId xmlns:a16="http://schemas.microsoft.com/office/drawing/2014/main" val="3800400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站別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參數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備注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32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manual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bulk1, bulk2, V1, VSB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537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I2C1-1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882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TP2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552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ATS2-1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Step36: Inrush current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90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ATS2-2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06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Barcode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9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143265"/>
                  </a:ext>
                </a:extLst>
              </a:tr>
            </a:tbl>
          </a:graphicData>
        </a:graphic>
      </p:graphicFrame>
      <p:sp>
        <p:nvSpPr>
          <p:cNvPr id="13" name="標題 1">
            <a:extLst>
              <a:ext uri="{FF2B5EF4-FFF2-40B4-BE49-F238E27FC236}">
                <a16:creationId xmlns:a16="http://schemas.microsoft.com/office/drawing/2014/main" id="{BD470688-F30E-1528-0383-DC8A503A339C}"/>
              </a:ext>
            </a:extLst>
          </p:cNvPr>
          <p:cNvSpPr txBox="1">
            <a:spLocks/>
          </p:cNvSpPr>
          <p:nvPr/>
        </p:nvSpPr>
        <p:spPr bwMode="auto">
          <a:xfrm>
            <a:off x="817438" y="1379187"/>
            <a:ext cx="294880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en-US" altLang="zh-CN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CD02 ECD18010040-B</a:t>
            </a:r>
            <a:endParaRPr lang="zh-TW" altLang="en-US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58079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8E5F9-3E27-4FB9-9E7F-AA69CBB72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647" y="1109141"/>
            <a:ext cx="9144000" cy="1864899"/>
          </a:xfrm>
        </p:spPr>
        <p:txBody>
          <a:bodyPr>
            <a:normAutofit/>
          </a:bodyPr>
          <a:lstStyle/>
          <a:p>
            <a:r>
              <a:rPr lang="en-US" altLang="zh-TW" dirty="0"/>
              <a:t>Smarter. Greener. Together. </a:t>
            </a:r>
            <a:br>
              <a:rPr lang="en-US" altLang="zh-TW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469637"/>
      </p:ext>
    </p:extLst>
  </p:cSld>
  <p:clrMapOvr>
    <a:masterClrMapping/>
  </p:clrMapOvr>
</p:sld>
</file>

<file path=ppt/theme/theme1.xml><?xml version="1.0" encoding="utf-8"?>
<a:theme xmlns:a="http://schemas.openxmlformats.org/drawingml/2006/main" name="Delta_PPTtemplate_16x9">
  <a:themeElements>
    <a:clrScheme name="自訂 2">
      <a:dk1>
        <a:sysClr val="windowText" lastClr="000000"/>
      </a:dk1>
      <a:lt1>
        <a:sysClr val="window" lastClr="FFFFFF"/>
      </a:lt1>
      <a:dk2>
        <a:srgbClr val="0087DC"/>
      </a:dk2>
      <a:lt2>
        <a:srgbClr val="FFFFFF"/>
      </a:lt2>
      <a:accent1>
        <a:srgbClr val="0087DC"/>
      </a:accent1>
      <a:accent2>
        <a:srgbClr val="64D7D7"/>
      </a:accent2>
      <a:accent3>
        <a:srgbClr val="B9EB5F"/>
      </a:accent3>
      <a:accent4>
        <a:srgbClr val="1E50C8"/>
      </a:accent4>
      <a:accent5>
        <a:srgbClr val="96E6BE"/>
      </a:accent5>
      <a:accent6>
        <a:srgbClr val="00BE50"/>
      </a:accent6>
      <a:hlink>
        <a:srgbClr val="0563C1"/>
      </a:hlink>
      <a:folHlink>
        <a:srgbClr val="BFBFBF"/>
      </a:folHlink>
    </a:clrScheme>
    <a:fontScheme name="自訂 3">
      <a:majorFont>
        <a:latin typeface="Arial"/>
        <a:ea typeface="Microsoft JhengHei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_PPTtemplate_16x9_EN [唯讀]" id="{F21C3CE6-3D98-42DE-99AC-D164CE22476C}" vid="{8041F8C1-B733-47A4-A0AB-C72E62B7477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Delta_PPTtemplate_16x9_EN</Template>
  <TotalTime>13477</TotalTime>
  <Words>1078</Words>
  <Application>Microsoft Office PowerPoint</Application>
  <PresentationFormat>寬螢幕</PresentationFormat>
  <Paragraphs>115</Paragraphs>
  <Slides>9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9" baseType="lpstr">
      <vt:lpstr>微软雅黑</vt:lpstr>
      <vt:lpstr>微软雅黑</vt:lpstr>
      <vt:lpstr>Noto Sans SC</vt:lpstr>
      <vt:lpstr>微軟正黑體</vt:lpstr>
      <vt:lpstr>Arial</vt:lpstr>
      <vt:lpstr>Calibri</vt:lpstr>
      <vt:lpstr>Cambria Math</vt:lpstr>
      <vt:lpstr>Microsoft Sans Serif</vt:lpstr>
      <vt:lpstr>Wingdings</vt:lpstr>
      <vt:lpstr>Delta_PPTtemplate_16x9</vt:lpstr>
      <vt:lpstr>PHM</vt:lpstr>
      <vt:lpstr>測試系統的PHM</vt:lpstr>
      <vt:lpstr>測試系統的PHM</vt:lpstr>
      <vt:lpstr>How to do</vt:lpstr>
      <vt:lpstr>數據采集</vt:lpstr>
      <vt:lpstr>數據采集</vt:lpstr>
      <vt:lpstr>數據采集</vt:lpstr>
      <vt:lpstr>數據采集</vt:lpstr>
      <vt:lpstr>Smarter. Greener. Together.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5C Technology Strategic Plan</dc:title>
  <dc:creator>ARES.CHEN 陳盈源</dc:creator>
  <cp:lastModifiedBy>DEFU.LAN 蘭德福</cp:lastModifiedBy>
  <cp:revision>1479</cp:revision>
  <dcterms:created xsi:type="dcterms:W3CDTF">2023-02-23T07:53:43Z</dcterms:created>
  <dcterms:modified xsi:type="dcterms:W3CDTF">2026-10-22T06:22:45Z</dcterms:modified>
</cp:coreProperties>
</file>